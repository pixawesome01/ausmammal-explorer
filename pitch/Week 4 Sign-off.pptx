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76db97760845c8" /><Relationship Type="http://schemas.openxmlformats.org/officeDocument/2006/relationships/extended-properties" Target="/docProps/app.xml" Id="R9a5a432421904209" /><Relationship Type="http://schemas.openxmlformats.org/officeDocument/2006/relationships/officeDocument" Target="/ppt/presentation.xml" Id="R6abf6bb8eac948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042dfb3684807"/>
  </p:sldMasterIdLst>
  <p:notesMasterIdLst>
    <p:notesMasterId xmlns:r="http://schemas.openxmlformats.org/officeDocument/2006/relationships" r:id="R03ca782d1b7040bd"/>
  </p:notesMasterIdLst>
  <p:sldIdLst>
    <p:sldId xmlns:r="http://schemas.openxmlformats.org/officeDocument/2006/relationships" id="256" r:id="R580832f1274a45a0"/>
    <p:sldId xmlns:r="http://schemas.openxmlformats.org/officeDocument/2006/relationships" id="257" r:id="R80b58e461d9041fc"/>
    <p:sldId xmlns:r="http://schemas.openxmlformats.org/officeDocument/2006/relationships" id="258" r:id="Rf3aa3ef655084ef2"/>
    <p:sldId xmlns:r="http://schemas.openxmlformats.org/officeDocument/2006/relationships" id="259" r:id="R4e47bc692ffb4470"/>
    <p:sldId xmlns:r="http://schemas.openxmlformats.org/officeDocument/2006/relationships" id="260" r:id="Rcf4ff2be17724786"/>
    <p:sldId xmlns:r="http://schemas.openxmlformats.org/officeDocument/2006/relationships" id="261" r:id="R267ca932215245a8"/>
    <p:sldId xmlns:r="http://schemas.openxmlformats.org/officeDocument/2006/relationships" id="262" r:id="R69a739ddbac24e11"/>
    <p:sldId xmlns:r="http://schemas.openxmlformats.org/officeDocument/2006/relationships" id="263" r:id="R1d3a174524fe45b3"/>
    <p:sldId xmlns:r="http://schemas.openxmlformats.org/officeDocument/2006/relationships" id="264" r:id="R6401ddc3b0d443fd"/>
    <p:sldId xmlns:r="http://schemas.openxmlformats.org/officeDocument/2006/relationships" id="265" r:id="Rd5458a34ec9e4fb7"/>
    <p:sldId xmlns:r="http://schemas.openxmlformats.org/officeDocument/2006/relationships" id="266" r:id="R04e8f3843d3647e1"/>
    <p:sldId xmlns:r="http://schemas.openxmlformats.org/officeDocument/2006/relationships" id="267" r:id="R284161195cf1466c"/>
    <p:sldId xmlns:r="http://schemas.openxmlformats.org/officeDocument/2006/relationships" id="268" r:id="Ra07fffc0e5244007"/>
    <p:sldId xmlns:r="http://schemas.openxmlformats.org/officeDocument/2006/relationships" id="269" r:id="Ra67c0bbe866b4661"/>
    <p:sldId xmlns:r="http://schemas.openxmlformats.org/officeDocument/2006/relationships" id="270" r:id="R25c8390d41b94c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812012b15a477f" /><Relationship Type="http://schemas.openxmlformats.org/officeDocument/2006/relationships/slideMaster" Target="/ppt/slideMasters/slideMaster1.xml" Id="R6b1042dfb3684807" /><Relationship Type="http://schemas.openxmlformats.org/officeDocument/2006/relationships/notesMaster" Target="/ppt/notesMasters/notesMaster1.xml" Id="R03ca782d1b7040bd" /><Relationship Type="http://schemas.openxmlformats.org/officeDocument/2006/relationships/presProps" Target="/ppt/presProps.xml" Id="Rc06fc0d7edaf416b" /><Relationship Type="http://schemas.openxmlformats.org/officeDocument/2006/relationships/tableStyles" Target="/ppt/tableStyles.xml" Id="R6f5d04df37944322" /><Relationship Type="http://schemas.openxmlformats.org/officeDocument/2006/relationships/slide" Target="/ppt/slides/slide1.xml" Id="R580832f1274a45a0" /><Relationship Type="http://schemas.openxmlformats.org/officeDocument/2006/relationships/slide" Target="/ppt/slides/slide2.xml" Id="R80b58e461d9041fc" /><Relationship Type="http://schemas.openxmlformats.org/officeDocument/2006/relationships/slide" Target="/ppt/slides/slide3.xml" Id="Rf3aa3ef655084ef2" /><Relationship Type="http://schemas.openxmlformats.org/officeDocument/2006/relationships/slide" Target="/ppt/slides/slide4.xml" Id="R4e47bc692ffb4470" /><Relationship Type="http://schemas.openxmlformats.org/officeDocument/2006/relationships/slide" Target="/ppt/slides/slide5.xml" Id="Rcf4ff2be17724786" /><Relationship Type="http://schemas.openxmlformats.org/officeDocument/2006/relationships/slide" Target="/ppt/slides/slide6.xml" Id="R267ca932215245a8" /><Relationship Type="http://schemas.openxmlformats.org/officeDocument/2006/relationships/slide" Target="/ppt/slides/slide7.xml" Id="R69a739ddbac24e11" /><Relationship Type="http://schemas.openxmlformats.org/officeDocument/2006/relationships/slide" Target="/ppt/slides/slide8.xml" Id="R1d3a174524fe45b3" /><Relationship Type="http://schemas.openxmlformats.org/officeDocument/2006/relationships/slide" Target="/ppt/slides/slide9.xml" Id="R6401ddc3b0d443fd" /><Relationship Type="http://schemas.openxmlformats.org/officeDocument/2006/relationships/slide" Target="/ppt/slides/slide10.xml" Id="Rd5458a34ec9e4fb7" /><Relationship Type="http://schemas.openxmlformats.org/officeDocument/2006/relationships/slide" Target="/ppt/slides/slide11.xml" Id="R04e8f3843d3647e1" /><Relationship Type="http://schemas.openxmlformats.org/officeDocument/2006/relationships/slide" Target="/ppt/slides/slide12.xml" Id="R284161195cf1466c" /><Relationship Type="http://schemas.openxmlformats.org/officeDocument/2006/relationships/slide" Target="/ppt/slides/slide13.xml" Id="Ra07fffc0e5244007" /><Relationship Type="http://schemas.openxmlformats.org/officeDocument/2006/relationships/slide" Target="/ppt/slides/slide14.xml" Id="Ra67c0bbe866b4661" /><Relationship Type="http://schemas.openxmlformats.org/officeDocument/2006/relationships/slide" Target="/ppt/slides/slide15.xml" Id="R25c8390d41b94c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bce05af05a48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0e4875bc3e47ec" /><Relationship Type="http://schemas.openxmlformats.org/officeDocument/2006/relationships/notesMaster" Target="/ppt/notesMasters/notesMaster1.xml" Id="R5b52443c71d84e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3e55e7a116436c" /><Relationship Type="http://schemas.openxmlformats.org/officeDocument/2006/relationships/notesMaster" Target="/ppt/notesMasters/notesMaster1.xml" Id="Rb4fbac8f5b794d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fc3482aa794378" /><Relationship Type="http://schemas.openxmlformats.org/officeDocument/2006/relationships/notesMaster" Target="/ppt/notesMasters/notesMaster1.xml" Id="R18c2bef73b1046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0353b051f849c3" /><Relationship Type="http://schemas.openxmlformats.org/officeDocument/2006/relationships/notesMaster" Target="/ppt/notesMasters/notesMaster1.xml" Id="R414a193038364f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e9c06b0b9542b1" /><Relationship Type="http://schemas.openxmlformats.org/officeDocument/2006/relationships/notesMaster" Target="/ppt/notesMasters/notesMaster1.xml" Id="R77255fc19b474a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3a21ef7b1d46ea" /><Relationship Type="http://schemas.openxmlformats.org/officeDocument/2006/relationships/notesMaster" Target="/ppt/notesMasters/notesMaster1.xml" Id="Rbf689441b141405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4abc7631d34d28" /><Relationship Type="http://schemas.openxmlformats.org/officeDocument/2006/relationships/notesMaster" Target="/ppt/notesMasters/notesMaster1.xml" Id="R0b00634fc1734a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2a8cc70b7d497a" /><Relationship Type="http://schemas.openxmlformats.org/officeDocument/2006/relationships/notesMaster" Target="/ppt/notesMasters/notesMaster1.xml" Id="R58e84417a5854b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20d1c615364ac9" /><Relationship Type="http://schemas.openxmlformats.org/officeDocument/2006/relationships/notesMaster" Target="/ppt/notesMasters/notesMaster1.xml" Id="Red4da3eac10341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a2a2ec00014932" /><Relationship Type="http://schemas.openxmlformats.org/officeDocument/2006/relationships/notesMaster" Target="/ppt/notesMasters/notesMaster1.xml" Id="R297a1bb870f44f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89ab2828db4949" /><Relationship Type="http://schemas.openxmlformats.org/officeDocument/2006/relationships/notesMaster" Target="/ppt/notesMasters/notesMaster1.xml" Id="Re20bf4f442d24a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e03e21171d04722" /><Relationship Type="http://schemas.openxmlformats.org/officeDocument/2006/relationships/notesMaster" Target="/ppt/notesMasters/notesMaster1.xml" Id="R419bd34d5bb541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749dd9f13b4f7c" /><Relationship Type="http://schemas.openxmlformats.org/officeDocument/2006/relationships/notesMaster" Target="/ppt/notesMasters/notesMaster1.xml" Id="Rc909d601f176482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9130452d4fa4cba" /><Relationship Type="http://schemas.openxmlformats.org/officeDocument/2006/relationships/notesMaster" Target="/ppt/notesMasters/notesMaster1.xml" Id="Rf9a146dec28d424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59362f3d7d41af" /><Relationship Type="http://schemas.openxmlformats.org/officeDocument/2006/relationships/notesMaster" Target="/ppt/notesMasters/notesMaster1.xml" Id="R2caa4dcb811a48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Introduce the project as a simple explorer for Australian mammal occurrence records.</a:t>
            </a:r>
          </a:p>
          <a:p xmlns:a="http://schemas.openxmlformats.org/drawingml/2006/main">
            <a:r>
              <a:t>• Explain that this deck is a Week 4 sign-off draft, not the final pitch.</a:t>
            </a:r>
          </a:p>
          <a:p xmlns:a="http://schemas.openxmlformats.org/drawingml/2006/main">
            <a:r>
              <a:t>• Frame the discussion around risks, dated goals, Kanban status, and traceability.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Start with the user problem: occurrence data is valuable but difficult to interpret quickly.</a:t>
            </a:r>
          </a:p>
          <a:p xmlns:a="http://schemas.openxmlformats.org/drawingml/2006/main">
            <a:r>
              <a:t>• Describe the MVP as a guided map-first experience for five species.</a:t>
            </a:r>
          </a:p>
          <a:p xmlns:a="http://schemas.openxmlformats.org/drawingml/2006/main">
            <a:r>
              <a:t>• Keep advanced modelling outside the core Week 4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Use this slide as the sign-off checklist.</a:t>
            </a:r>
          </a:p>
          <a:p xmlns:a="http://schemas.openxmlformats.org/drawingml/2006/main">
            <a:r>
              <a:t>• The purpose is not to prove the whole product is finished.</a:t>
            </a:r>
          </a:p>
          <a:p xmlns:a="http://schemas.openxmlformats.org/drawingml/2006/main">
            <a:r>
              <a:t>• The purpose is to show that the team can proceed with a controlled, traceable plan.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FIT3163 mid-semester project pitch brief</a:t>
            </a:r>
          </a:p>
          <a:p xmlns:a="http://schemas.openxmlformats.org/drawingml/2006/main">
            <a:r>
              <a:t>- Week 4 Sign-off source deck (11 August 2026 snapshot)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Confirm that the basic team workflow is now usable.</a:t>
            </a:r>
          </a:p>
          <a:p xmlns:a="http://schemas.openxmlformats.org/drawingml/2006/main">
            <a:r>
              <a:t>• Explain why large raw datasets are stored outside GitHub.</a:t>
            </a:r>
          </a:p>
          <a:p xmlns:a="http://schemas.openxmlformats.org/drawingml/2006/main">
            <a:r>
              <a:t>• Connect the completed validation work to the next frozen-snapshot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Project repository and Jira KAN-23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Focus on the handoff between cleaned data and the browser, not on data collection alone.</a:t>
            </a:r>
          </a:p>
          <a:p xmlns:a="http://schemas.openxmlformats.org/drawingml/2006/main">
            <a:r>
              <a:t>• Explain that performance and version drift are linked risks.</a:t>
            </a:r>
          </a:p>
          <a:p xmlns:a="http://schemas.openxmlformats.org/drawingml/2006/main">
            <a:r>
              <a:t>• State the immediate control: freeze a named snapshot and agreed schema.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Do not read every cell; focus on R1 and R2 as the two extreme risks.</a:t>
            </a:r>
          </a:p>
          <a:p xmlns:a="http://schemas.openxmlformats.org/drawingml/2006/main">
            <a:r>
              <a:t>• Show that every risk already has a practical control or contingency.</a:t>
            </a:r>
          </a:p>
          <a:p xmlns:a="http://schemas.openxmlformats.org/drawingml/2006/main">
            <a:r>
              <a:t>• Confirm that optional modelling will not delay the five-species MVP.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Explain that the controls are concrete actions, not general intentions.</a:t>
            </a:r>
          </a:p>
          <a:p xmlns:a="http://schemas.openxmlformats.org/drawingml/2006/main">
            <a:r>
              <a:t>• Link the data freeze to both performance and version-control risks.</a:t>
            </a:r>
          </a:p>
          <a:p xmlns:a="http://schemas.openxmlformats.org/drawingml/2006/main">
            <a:r>
              <a:t>• Link the WIP limit to ownership and review capacity.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This goal establishes one stable input for the rest of the project.</a:t>
            </a:r>
          </a:p>
          <a:p xmlns:a="http://schemas.openxmlformats.org/drawingml/2006/main">
            <a:r>
              <a:t>• The snapshot is complete only when metadata and validation checks are included.</a:t>
            </a:r>
          </a:p>
          <a:p xmlns:a="http://schemas.openxmlformats.org/drawingml/2006/main">
            <a:r>
              <a:t>• KAN-24 is the delivery task that carries this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The second goal proves that the basic interface can run independently of the full dataset.</a:t>
            </a:r>
          </a:p>
          <a:p xmlns:a="http://schemas.openxmlformats.org/drawingml/2006/main">
            <a:r>
              <a:t>• A clean-checkout demo is the success test, not a developer-only local setup.</a:t>
            </a:r>
          </a:p>
          <a:p xmlns:a="http://schemas.openxmlformats.org/drawingml/2006/main">
            <a:r>
              <a:t>• This keeps UI progress visible while the data contract is being finalised.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This is the Week 4 sign-off checkpoint and the first vertical data path.</a:t>
            </a:r>
          </a:p>
          <a:p xmlns:a="http://schemas.openxmlformats.org/drawingml/2006/main">
            <a:r>
              <a:t>• One traceable species is more valuable than five incomplete integrations.</a:t>
            </a:r>
          </a:p>
          <a:p xmlns:a="http://schemas.openxmlformats.org/drawingml/2006/main">
            <a:r>
              <a:t>• Include evidence for the normal path and the key failure states.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This goal carries the project from Week 4 sign-off to the Week 6 pitch.</a:t>
            </a:r>
          </a:p>
          <a:p xmlns:a="http://schemas.openxmlformats.org/drawingml/2006/main">
            <a:r>
              <a:t>• The pitch should demonstrate a working slice, not disconnected mock-ups.</a:t>
            </a:r>
          </a:p>
          <a:p xmlns:a="http://schemas.openxmlformats.org/drawingml/2006/main">
            <a:r>
              <a:t>• Testing and CI evidence should be ready before the presentation rehearsal.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Explain that the large backlog contains future and optional work.</a:t>
            </a:r>
          </a:p>
          <a:p xmlns:a="http://schemas.openxmlformats.org/drawingml/2006/main">
            <a:r>
              <a:t>• Ready contains the tasks that have enough detail to start next.</a:t>
            </a:r>
          </a:p>
          <a:p xmlns:a="http://schemas.openxmlformats.org/drawingml/2006/main">
            <a:r>
              <a:t>• The two active cards show the agreed WIP limit is currently being followed.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The board is a coordination tool, not just a list of tasks.</a:t>
            </a:r>
          </a:p>
          <a:p xmlns:a="http://schemas.openxmlformats.org/drawingml/2006/main">
            <a:r>
              <a:t>• Ownership can still be collaborative; the assignee is the accountable contact.</a:t>
            </a:r>
          </a:p>
          <a:p xmlns:a="http://schemas.openxmlformats.org/drawingml/2006/main">
            <a:r>
              <a:t>• Evidence may include a pull request, test result, screenshot, or reviewed artefact.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Show that every high-priority requirement has delivery tasks and a verification method.</a:t>
            </a:r>
          </a:p>
          <a:p xmlns:a="http://schemas.openxmlformats.org/drawingml/2006/main">
            <a:r>
              <a:t>• Protect the Must requirements before expanding the Should scope.</a:t>
            </a:r>
          </a:p>
          <a:p xmlns:a="http://schemas.openxmlformats.org/drawingml/2006/main">
            <a:r>
              <a:t>• Update the Current column and attach evidence as the linked Jira work moves to Done.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Close by asking for confirmation on scope, risk control, and workflow.</a:t>
            </a:r>
          </a:p>
          <a:p xmlns:a="http://schemas.openxmlformats.org/drawingml/2006/main">
            <a:r>
              <a:t>• The next visible checkpoint is the one-species end-to-end sample on 28 August.</a:t>
            </a:r>
          </a:p>
          <a:p xmlns:a="http://schemas.openxmlformats.org/drawingml/2006/main">
            <a:r>
              <a:t>• Record any requested changes in Jira immediately after sign-off.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 4 Sign-off source deck (11 August 2026 snapshot)</a:t>
            </a:r>
          </a:p>
          <a:p xmlns:a="http://schemas.openxmlformats.org/drawingml/2006/main">
            <a:r>
              <a:t>- Jira KAN board status used in the source deck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7ebfebf80e48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f9bb93ac3544f2" /><Relationship Type="http://schemas.openxmlformats.org/officeDocument/2006/relationships/slideLayout" Target="/ppt/slideLayouts/slideLayout1.xml" Id="R37354be8438844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354be8438844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db96872fd4ef1" /><Relationship Type="http://schemas.openxmlformats.org/officeDocument/2006/relationships/notesSlide" Target="/ppt/notesSlides/notesSlide1.xml" Id="R89ececcafa2845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580b7a0c74db7" /><Relationship Type="http://schemas.openxmlformats.org/officeDocument/2006/relationships/notesSlide" Target="/ppt/notesSlides/notesSlide2.xml" Id="R1a72b7bd992f40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64094d6e4d4e5a" /><Relationship Type="http://schemas.openxmlformats.org/officeDocument/2006/relationships/notesSlide" Target="/ppt/notesSlides/notesSlide3.xml" Id="R5f78cea2c65a47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fb32cc2d045fd" /><Relationship Type="http://schemas.openxmlformats.org/officeDocument/2006/relationships/notesSlide" Target="/ppt/notesSlides/notesSlide4.xml" Id="R2ea4f3b4925447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58de2e1cc4537" /><Relationship Type="http://schemas.openxmlformats.org/officeDocument/2006/relationships/notesSlide" Target="/ppt/notesSlides/notesSlide5.xml" Id="R294a7de739464e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c81e7e7c34c20" /><Relationship Type="http://schemas.openxmlformats.org/officeDocument/2006/relationships/notesSlide" Target="/ppt/notesSlides/notesSlide6.xml" Id="R106f56b02a2e41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781143c7f34c81" /><Relationship Type="http://schemas.openxmlformats.org/officeDocument/2006/relationships/notesSlide" Target="/ppt/notesSlides/notesSlide7.xml" Id="R84038c29032342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784e59c1c42a1" /><Relationship Type="http://schemas.openxmlformats.org/officeDocument/2006/relationships/notesSlide" Target="/ppt/notesSlides/notesSlide8.xml" Id="Rb932f239d48246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9bd08f97ec43b0" /><Relationship Type="http://schemas.openxmlformats.org/officeDocument/2006/relationships/notesSlide" Target="/ppt/notesSlides/notesSlide9.xml" Id="R84eaaae2dad343e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728be17924f54" /><Relationship Type="http://schemas.openxmlformats.org/officeDocument/2006/relationships/notesSlide" Target="/ppt/notesSlides/notesSlide10.xml" Id="R9dc6f3e38cb645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09089a8544a5c" /><Relationship Type="http://schemas.openxmlformats.org/officeDocument/2006/relationships/notesSlide" Target="/ppt/notesSlides/notesSlide11.xml" Id="R0bb6714759464bb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2c5bd70f64b7f" /><Relationship Type="http://schemas.openxmlformats.org/officeDocument/2006/relationships/notesSlide" Target="/ppt/notesSlides/notesSlide12.xml" Id="R37260f33926a4c9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d5b55c80049a4" /><Relationship Type="http://schemas.openxmlformats.org/officeDocument/2006/relationships/notesSlide" Target="/ppt/notesSlides/notesSlide13.xml" Id="R6e384d1ea5e1459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fd1990e664b78" /><Relationship Type="http://schemas.openxmlformats.org/officeDocument/2006/relationships/notesSlide" Target="/ppt/notesSlides/notesSlide14.xml" Id="R62eb226777b646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3e24097d6468c" /><Relationship Type="http://schemas.openxmlformats.org/officeDocument/2006/relationships/notesSlide" Target="/ppt/notesSlides/notesSlide15.xml" Id="R37c4fae690e04b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47D592C5-E4D6-4476-8B6D-1AB843EB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1811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B6B6B"/>
                </a:solidFill>
                <a:latin typeface="Arial"/>
                <a:ea typeface="Arial"/>
                <a:cs typeface="Arial"/>
              </a:rPr>
              <a:t>WEEK 4 TEAM SIGN-OFF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910D6A38-295C-4B00-ABFA-A751297F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90487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Australian Mammal</a:t>
            </a:r>
          </a:p>
          <a:p xmlns:a="http://schemas.openxmlformats.org/drawingml/2006/main">
            <a:pPr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Distribution Explorer</a:t>
            </a:r>
          </a:p>
        </p:txBody>
      </p:sp>
      <p:sp>
        <p:nvSpPr>
          <p:cNvPr id="3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851127D4-7084-4370-BE9B-547C7E8A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909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444444"/>
                </a:solidFill>
                <a:latin typeface="Arial"/>
                <a:ea typeface="Arial"/>
                <a:cs typeface="Arial"/>
              </a:rPr>
              <a:t>Draft for project sign-off discussion</a:t>
            </a:r>
          </a:p>
        </p:txBody>
      </p:sp>
      <p:sp>
        <p:nvSpPr>
          <p:cNvPr id="4" name="divider-428">
            <a:extLst xmlns:a="http://schemas.openxmlformats.org/drawingml/2006/main">
              <a:ext uri="{FF2B5EF4-FFF2-40B4-BE49-F238E27FC236}">
                <a16:creationId xmlns:a16="http://schemas.microsoft.com/office/drawing/2014/main" id="{000B66F2-3C4F-4497-A3CF-62B98079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urse-and-team">
            <a:extLst xmlns:a="http://schemas.openxmlformats.org/drawingml/2006/main">
              <a:ext uri="{FF2B5EF4-FFF2-40B4-BE49-F238E27FC236}">
                <a16:creationId xmlns:a16="http://schemas.microsoft.com/office/drawing/2014/main" id="{F77701A5-38F6-47DC-A0AC-7986805D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9600"/>
            <a:ext cx="933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444444"/>
                </a:solidFill>
                <a:latin typeface="Arial"/>
                <a:ea typeface="Arial"/>
                <a:cs typeface="Arial"/>
              </a:rPr>
              <a:t>FIT3163 Group 15</a:t>
            </a:r>
          </a:p>
          <a:p xmlns:a="http://schemas.openxmlformats.org/drawingml/2006/main">
            <a:pPr>
              <a:defRPr sz="150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444444"/>
                </a:solidFill>
                <a:latin typeface="Arial"/>
                <a:ea typeface="Arial"/>
                <a:cs typeface="Arial"/>
              </a:rPr>
              <a:t>Shu Sato · Kok Hee Tan · Nethra Yamala · William Koo</a:t>
            </a:r>
          </a:p>
        </p:txBody>
      </p:sp>
      <p:sp>
        <p:nvSpPr>
          <p:cNvPr id="6" name="footer-group-1">
            <a:extLst xmlns:a="http://schemas.openxmlformats.org/drawingml/2006/main">
              <a:ext uri="{FF2B5EF4-FFF2-40B4-BE49-F238E27FC236}">
                <a16:creationId xmlns:a16="http://schemas.microsoft.com/office/drawing/2014/main" id="{19BA53A2-1C12-4784-A7CC-D00DDC9F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7" name="footer-number-1">
            <a:extLst xmlns:a="http://schemas.openxmlformats.org/drawingml/2006/main">
              <a:ext uri="{FF2B5EF4-FFF2-40B4-BE49-F238E27FC236}">
                <a16:creationId xmlns:a16="http://schemas.microsoft.com/office/drawing/2014/main" id="{209E777C-180D-4706-AC51-225EE34C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2420181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CA213EE5-34E1-4074-A944-227F579F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we are building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D6775DEC-0569-4372-89FB-CC2278B0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2">
            <a:extLst xmlns:a="http://schemas.openxmlformats.org/drawingml/2006/main">
              <a:ext uri="{FF2B5EF4-FFF2-40B4-BE49-F238E27FC236}">
                <a16:creationId xmlns:a16="http://schemas.microsoft.com/office/drawing/2014/main" id="{34A5612E-B3B6-4CF4-88F9-3384AC65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7B0D1190-1C2C-429E-82D5-65466D16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2/15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0A66CDB4-D198-421C-923F-FCDD8FD3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Explore Australian mammal occurrence records on a map.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A0D09F49-2598-4744-BC64-4BCEE9B4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Select one of five species in the MVP.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B36B0520-BCEB-4050-A3F2-AE86D571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Filter records by time and compare simple summaries.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B52511DF-3773-490A-8B4C-D3717004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Keep the interface usable for non-specialist users.</a:t>
            </a:r>
          </a:p>
        </p:txBody>
      </p:sp>
    </p:spTree>
    <p:extLst>
      <p:ext uri="{BB962C8B-B14F-4D97-AF65-F5344CB8AC3E}">
        <p14:creationId xmlns:p14="http://schemas.microsoft.com/office/powerpoint/2010/main" val="4683020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3">
            <a:extLst xmlns:a="http://schemas.openxmlformats.org/drawingml/2006/main">
              <a:ext uri="{FF2B5EF4-FFF2-40B4-BE49-F238E27FC236}">
                <a16:creationId xmlns:a16="http://schemas.microsoft.com/office/drawing/2014/main" id="{47D1CAC6-A1E4-4A10-ACA7-1F141714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Week 4 must confirm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8D841C3F-9279-4515-851A-3559B5F4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3">
            <a:extLst xmlns:a="http://schemas.openxmlformats.org/drawingml/2006/main">
              <a:ext uri="{FF2B5EF4-FFF2-40B4-BE49-F238E27FC236}">
                <a16:creationId xmlns:a16="http://schemas.microsoft.com/office/drawing/2014/main" id="{202148E7-D87D-4F84-ADD0-C9355F3D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C63344D1-7585-4C08-B7F9-415B7FED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3/15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953A6CE7-A51D-4677-9358-74B9AE3B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The main project risks are identified and controlled.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EDFCA4C1-147B-48CF-83A5-1F29F97F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SMART goals carry the team through the Week 6 pitch.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9271F403-89C5-4FC6-B39E-60A99263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The Kanban board reflects the work now in progress.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42FB7466-43BB-4BE4-A482-082FDA2A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Requirements link to delivery tasks and verification.</a:t>
            </a:r>
          </a:p>
        </p:txBody>
      </p:sp>
    </p:spTree>
    <p:extLst>
      <p:ext uri="{BB962C8B-B14F-4D97-AF65-F5344CB8AC3E}">
        <p14:creationId xmlns:p14="http://schemas.microsoft.com/office/powerpoint/2010/main" val="21157723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BEAA7264-76ED-476E-9F6B-8A0183EC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Current project position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9E836DF3-FE00-4982-A70E-6CC65F4F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4">
            <a:extLst xmlns:a="http://schemas.openxmlformats.org/drawingml/2006/main">
              <a:ext uri="{FF2B5EF4-FFF2-40B4-BE49-F238E27FC236}">
                <a16:creationId xmlns:a16="http://schemas.microsoft.com/office/drawing/2014/main" id="{6BCE360C-9722-4F99-B43C-EA232809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7E8A4743-C44E-47EB-A8A7-49E1C5DE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4/15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9C45F1FE-3E0F-4EF1-8B63-F61A15E2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Repository structure and continuous integration are established.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8BBEB3EA-4E76-4B2C-842B-D75B884E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Large datasets have been moved from GitHub to shared Drive storage.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B6C7CD27-692C-4892-8412-11F39802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The KAN-23 data validation workflow is complete.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489B1C08-B124-4857-BED9-FAA7B49E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The next integration step is a frozen ALA data snapshot.</a:t>
            </a:r>
          </a:p>
        </p:txBody>
      </p:sp>
    </p:spTree>
    <p:extLst>
      <p:ext uri="{BB962C8B-B14F-4D97-AF65-F5344CB8AC3E}">
        <p14:creationId xmlns:p14="http://schemas.microsoft.com/office/powerpoint/2010/main" val="17680617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5">
            <a:extLst xmlns:a="http://schemas.openxmlformats.org/drawingml/2006/main">
              <a:ext uri="{FF2B5EF4-FFF2-40B4-BE49-F238E27FC236}">
                <a16:creationId xmlns:a16="http://schemas.microsoft.com/office/drawing/2014/main" id="{72F3E925-B77F-41F5-8D29-9848B65A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main delivery risk is the data-to-map handoff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9574C795-60F1-4548-A732-AEE5DB74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5">
            <a:extLst xmlns:a="http://schemas.openxmlformats.org/drawingml/2006/main">
              <a:ext uri="{FF2B5EF4-FFF2-40B4-BE49-F238E27FC236}">
                <a16:creationId xmlns:a16="http://schemas.microsoft.com/office/drawing/2014/main" id="{D31CEE70-FBAE-476D-B528-AE9096FE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0E569EC7-F75A-47E2-9B69-1ACCEDEA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5/15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E882272E-1E97-47E6-8BDF-C124FD2A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Large payloads may make the map slow or unresponsive.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5931CE32-212D-43BA-B325-4CA3FB8B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Dataset versions may drift between Drive and the application.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32D8D74A-39D5-4CE7-99D7-8DC44D8C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Frontend work depends on a stable data shape.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83FDCE1C-9A3D-456B-9CD0-37CDCF67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The data contract must be frozen before integration begins.</a:t>
            </a:r>
          </a:p>
        </p:txBody>
      </p:sp>
    </p:spTree>
    <p:extLst>
      <p:ext uri="{BB962C8B-B14F-4D97-AF65-F5344CB8AC3E}">
        <p14:creationId xmlns:p14="http://schemas.microsoft.com/office/powerpoint/2010/main" val="6575632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4ECAE974-B21B-4F31-96FC-26ED967D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Risk register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08984B0B-9C27-4253-BED4-186FCAB9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6">
            <a:extLst xmlns:a="http://schemas.openxmlformats.org/drawingml/2006/main">
              <a:ext uri="{FF2B5EF4-FFF2-40B4-BE49-F238E27FC236}">
                <a16:creationId xmlns:a16="http://schemas.microsoft.com/office/drawing/2014/main" id="{B55CCF43-F722-4DDA-B25B-709215F2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9927B7F2-1DD7-4029-9277-D293F885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6/15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85800" y="1695450"/>
          <a:ext xmlns:a="http://schemas.openxmlformats.org/drawingml/2006/main" cx="1082040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85800"/>
                <a:gridCol w="3143250"/>
                <a:gridCol w="1143000"/>
                <a:gridCol w="5848350"/>
              </a:tblGrid>
              <a:tr h="5143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5250" marR="95250" marT="66675" marB="666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Risk</a:t>
                      </a:r>
                    </a:p>
                  </a:txBody>
                  <a:tcPr marL="95250" marR="95250" marT="66675" marB="666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95250" marR="95250" marT="66675" marB="666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Current control</a:t>
                      </a:r>
                    </a:p>
                  </a:txBody>
                  <a:tcPr marL="95250" marR="95250" marT="66675" marB="66675">
                    <a:solidFill>
                      <a:srgbClr val="F3F3F3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R1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Large map payload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Extreme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Pre-aggregate data and test a smaller sample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R2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Dataset version or schema drift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Extreme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Freeze a named snapshot and agreed schema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R3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Work concentrates on too few people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Assign each pulled card and keep WIP at two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R4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Optional modelling displaces the MVP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Keep modelling as conditional scope</a:t>
                      </a:r>
                    </a:p>
                  </a:txBody>
                  <a:tcPr marL="95250" marR="9525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0066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7">
            <a:extLst xmlns:a="http://schemas.openxmlformats.org/drawingml/2006/main">
              <a:ext uri="{FF2B5EF4-FFF2-40B4-BE49-F238E27FC236}">
                <a16:creationId xmlns:a16="http://schemas.microsoft.com/office/drawing/2014/main" id="{C4871E74-9B28-4FB7-B593-9EE67B06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How we will control the risks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3CE7BC48-2FE6-4EFA-9C11-F1C4B88F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7">
            <a:extLst xmlns:a="http://schemas.openxmlformats.org/drawingml/2006/main">
              <a:ext uri="{FF2B5EF4-FFF2-40B4-BE49-F238E27FC236}">
                <a16:creationId xmlns:a16="http://schemas.microsoft.com/office/drawing/2014/main" id="{0D1A0721-98C2-4602-B9E1-5414539C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7B21CB75-CBFB-4E34-958A-DE0B3AAB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7/15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E4F74061-8B86-48FC-849D-3C026913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Freeze a named dataset and schema by 14 August.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7D0BB302-66B3-4CCE-8351-1AF9EEA7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Pre-aggregate records and test with a smaller sample first.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06361D84-6248-49A1-BB97-1416616E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Assign each active card and keep the WIP limit at two.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8F1B1FC1-D909-4CC8-8F20-3C42AA6A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Treat advanced modelling as optional until the MVP works.</a:t>
            </a:r>
          </a:p>
        </p:txBody>
      </p:sp>
    </p:spTree>
    <p:extLst>
      <p:ext uri="{BB962C8B-B14F-4D97-AF65-F5344CB8AC3E}">
        <p14:creationId xmlns:p14="http://schemas.microsoft.com/office/powerpoint/2010/main" val="12314573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8">
            <a:extLst xmlns:a="http://schemas.openxmlformats.org/drawingml/2006/main">
              <a:ext uri="{FF2B5EF4-FFF2-40B4-BE49-F238E27FC236}">
                <a16:creationId xmlns:a16="http://schemas.microsoft.com/office/drawing/2014/main" id="{E6EDB4EE-8070-4D6E-AC18-32AFEAC9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 1 — publish the frozen data snapshot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11B0BEE8-AF1A-43FF-87F6-38CFF773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8">
            <a:extLst xmlns:a="http://schemas.openxmlformats.org/drawingml/2006/main">
              <a:ext uri="{FF2B5EF4-FFF2-40B4-BE49-F238E27FC236}">
                <a16:creationId xmlns:a16="http://schemas.microsoft.com/office/drawing/2014/main" id="{11288AB1-AA28-4BC9-B1CA-A183EAE0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D540FEEB-09F3-49A6-9796-6DA05E82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8/15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095A26F8-0246-446E-A5E4-EFAC899D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Target date: 14 August 2026.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A94DFD26-D93F-48C4-B1AF-C844BA55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Include five MVP species plus source and licence metadata.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D0347407-7998-4291-A61E-7C421C72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Make validation and cleaning steps reproducible.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8C5FB7BD-AFE1-4E5C-87E5-F9DACE9A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Delivery task: KAN-24.</a:t>
            </a:r>
          </a:p>
        </p:txBody>
      </p:sp>
    </p:spTree>
    <p:extLst>
      <p:ext uri="{BB962C8B-B14F-4D97-AF65-F5344CB8AC3E}">
        <p14:creationId xmlns:p14="http://schemas.microsoft.com/office/powerpoint/2010/main" val="19779458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9">
            <a:extLst xmlns:a="http://schemas.openxmlformats.org/drawingml/2006/main">
              <a:ext uri="{FF2B5EF4-FFF2-40B4-BE49-F238E27FC236}">
                <a16:creationId xmlns:a16="http://schemas.microsoft.com/office/drawing/2014/main" id="{EBC2B3FA-A139-4DD5-9C4E-04EED0E0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 2 — demonstrate the UI and map skeleton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47B5FEE3-6F7E-4F26-8348-31B94DD9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9">
            <a:extLst xmlns:a="http://schemas.openxmlformats.org/drawingml/2006/main">
              <a:ext uri="{FF2B5EF4-FFF2-40B4-BE49-F238E27FC236}">
                <a16:creationId xmlns:a16="http://schemas.microsoft.com/office/drawing/2014/main" id="{1C053989-01A9-467F-B564-E066418D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7240C1FD-C8CB-4D17-84C9-6ED2DDD4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9/15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32B2FAB8-6798-4029-AFE0-B11EB058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Target date: 21 August 2026.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1B0E89E5-CF4D-47C9-AC95-655AADA1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Show all five species in the selector.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D1E56D6D-DE1C-43B1-BF0F-53647AFC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Load the attributed MapLibre base map from a clean checkout.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F66513FE-C225-4516-8342-21D40EAC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Delivery tasks: KAN-32 and KAN-36.</a:t>
            </a:r>
          </a:p>
        </p:txBody>
      </p:sp>
    </p:spTree>
    <p:extLst>
      <p:ext uri="{BB962C8B-B14F-4D97-AF65-F5344CB8AC3E}">
        <p14:creationId xmlns:p14="http://schemas.microsoft.com/office/powerpoint/2010/main" val="15410720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10">
            <a:extLst xmlns:a="http://schemas.openxmlformats.org/drawingml/2006/main">
              <a:ext uri="{FF2B5EF4-FFF2-40B4-BE49-F238E27FC236}">
                <a16:creationId xmlns:a16="http://schemas.microsoft.com/office/drawing/2014/main" id="{7C15C0C5-4D98-424A-BDB0-7FB354DA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 3 — show one traceable end-to-end sample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AF3246E2-819B-406A-81E5-244F4C9B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10">
            <a:extLst xmlns:a="http://schemas.openxmlformats.org/drawingml/2006/main">
              <a:ext uri="{FF2B5EF4-FFF2-40B4-BE49-F238E27FC236}">
                <a16:creationId xmlns:a16="http://schemas.microsoft.com/office/drawing/2014/main" id="{DD4CEAAB-30AA-41AD-A5AC-C29FA7DB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97C3DCD9-C7A2-4817-A847-37511D2C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10/15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B6C588D7-AA6D-4364-BD5B-382CBD5B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Target date: 28 August 2026.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58BDB1A0-AA93-4EEB-8019-DBE95A65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Move one species dataset from the snapshot to the map.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8025DC2B-ED1A-4385-9458-6F49E94A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Document loading, empty, and invalid-data states.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BA4BCE91-2BA1-433D-8D59-05DF7143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Delivery tasks: KAN-40 and KAN-81.</a:t>
            </a:r>
          </a:p>
        </p:txBody>
      </p:sp>
    </p:spTree>
    <p:extLst>
      <p:ext uri="{BB962C8B-B14F-4D97-AF65-F5344CB8AC3E}">
        <p14:creationId xmlns:p14="http://schemas.microsoft.com/office/powerpoint/2010/main" val="10390917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11">
            <a:extLst xmlns:a="http://schemas.openxmlformats.org/drawingml/2006/main">
              <a:ext uri="{FF2B5EF4-FFF2-40B4-BE49-F238E27FC236}">
                <a16:creationId xmlns:a16="http://schemas.microsoft.com/office/drawing/2014/main" id="{4D762BA4-73E9-448E-8C5F-21D5DB2E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 4 — pitch a tested vertical slice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F2C0F515-CB53-4927-A832-BF5E71F3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11">
            <a:extLst xmlns:a="http://schemas.openxmlformats.org/drawingml/2006/main">
              <a:ext uri="{FF2B5EF4-FFF2-40B4-BE49-F238E27FC236}">
                <a16:creationId xmlns:a16="http://schemas.microsoft.com/office/drawing/2014/main" id="{87CDC95E-C6B7-45F7-ACD3-B8AE51C6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A879276A-17ED-4AA7-86A8-C7F31680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11/15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30F5318C-520D-409B-B096-A44886C6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Target date: 11 September 2026.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CA432721-06B4-4EC0-88A0-2DF31E37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Connect species selection, the map, and one time interaction.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9823BE03-FF55-4EB1-AF75-DF789CE0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Prepare CI and test evidence for questions.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E5308ED7-011E-4520-9952-FE16EB20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Delivery tasks: KAN-26 and KAN-83.</a:t>
            </a:r>
          </a:p>
        </p:txBody>
      </p:sp>
    </p:spTree>
    <p:extLst>
      <p:ext uri="{BB962C8B-B14F-4D97-AF65-F5344CB8AC3E}">
        <p14:creationId xmlns:p14="http://schemas.microsoft.com/office/powerpoint/2010/main" val="3703615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12">
            <a:extLst xmlns:a="http://schemas.openxmlformats.org/drawingml/2006/main">
              <a:ext uri="{FF2B5EF4-FFF2-40B4-BE49-F238E27FC236}">
                <a16:creationId xmlns:a16="http://schemas.microsoft.com/office/drawing/2014/main" id="{D39302C0-FBD8-4B48-BB34-CD34263E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Kanban snapshot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4B2CEA34-7424-49E7-A419-2F15BEFC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12">
            <a:extLst xmlns:a="http://schemas.openxmlformats.org/drawingml/2006/main">
              <a:ext uri="{FF2B5EF4-FFF2-40B4-BE49-F238E27FC236}">
                <a16:creationId xmlns:a16="http://schemas.microsoft.com/office/drawing/2014/main" id="{FC2008FF-12D5-46BE-A307-02F29468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12">
            <a:extLst xmlns:a="http://schemas.openxmlformats.org/drawingml/2006/main">
              <a:ext uri="{FF2B5EF4-FFF2-40B4-BE49-F238E27FC236}">
                <a16:creationId xmlns:a16="http://schemas.microsoft.com/office/drawing/2014/main" id="{D50E0CFD-29A1-40A9-8C5C-78DBE77E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12/15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102003A0-7FF6-46B6-A4EE-F962D83B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52 cards are in Backlog.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606B3EEF-362C-452B-8265-0237877D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9 tasks are Ready to pull.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34C19863-55C6-41AC-A6FA-B1D36B80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2 cards are active; the WIP limit is two.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44D23E50-992C-46EC-AF97-CCDE13B3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4 tasks are Done.</a:t>
            </a:r>
          </a:p>
        </p:txBody>
      </p:sp>
    </p:spTree>
    <p:extLst>
      <p:ext uri="{BB962C8B-B14F-4D97-AF65-F5344CB8AC3E}">
        <p14:creationId xmlns:p14="http://schemas.microsoft.com/office/powerpoint/2010/main" val="20469802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13">
            <a:extLst xmlns:a="http://schemas.openxmlformats.org/drawingml/2006/main">
              <a:ext uri="{FF2B5EF4-FFF2-40B4-BE49-F238E27FC236}">
                <a16:creationId xmlns:a16="http://schemas.microsoft.com/office/drawing/2014/main" id="{C41432FD-D7EA-4518-9F96-E5E27AF1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Our working agreement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4DD7EA0A-A41E-4530-BEA4-E5D0D8A0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13">
            <a:extLst xmlns:a="http://schemas.openxmlformats.org/drawingml/2006/main">
              <a:ext uri="{FF2B5EF4-FFF2-40B4-BE49-F238E27FC236}">
                <a16:creationId xmlns:a16="http://schemas.microsoft.com/office/drawing/2014/main" id="{C071C74F-B9C9-4542-B2DC-0BE51A6B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13">
            <a:extLst xmlns:a="http://schemas.openxmlformats.org/drawingml/2006/main">
              <a:ext uri="{FF2B5EF4-FFF2-40B4-BE49-F238E27FC236}">
                <a16:creationId xmlns:a16="http://schemas.microsoft.com/office/drawing/2014/main" id="{7DC0AB8E-1E1D-4E7C-AC13-A3AF5F35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13/15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2AD0FBAF-945E-4294-8D9C-8DA058D2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Pull new work from Ready, not directly from Backlog.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20A00EBF-23D6-4190-92CB-4A3536C6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Assign an owner before a task starts.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B959FA08-9A83-4977-A371-35AF0ED9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Keep no more than two cards active at once.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6D33E6DA-6B5C-4EBA-B246-658AE4B8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Move work to Done only when evidence is attached.</a:t>
            </a:r>
          </a:p>
        </p:txBody>
      </p:sp>
    </p:spTree>
    <p:extLst>
      <p:ext uri="{BB962C8B-B14F-4D97-AF65-F5344CB8AC3E}">
        <p14:creationId xmlns:p14="http://schemas.microsoft.com/office/powerpoint/2010/main" val="9954866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14">
            <a:extLst xmlns:a="http://schemas.openxmlformats.org/drawingml/2006/main">
              <a:ext uri="{FF2B5EF4-FFF2-40B4-BE49-F238E27FC236}">
                <a16:creationId xmlns:a16="http://schemas.microsoft.com/office/drawing/2014/main" id="{C40C6D4A-29E0-4472-813F-96AB312D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Requirements traceability matrix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1AE6ECC5-F079-4A12-A050-4E5AD1E1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14">
            <a:extLst xmlns:a="http://schemas.openxmlformats.org/drawingml/2006/main">
              <a:ext uri="{FF2B5EF4-FFF2-40B4-BE49-F238E27FC236}">
                <a16:creationId xmlns:a16="http://schemas.microsoft.com/office/drawing/2014/main" id="{B89A6AD8-BAF2-4208-A99D-57F98298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14">
            <a:extLst xmlns:a="http://schemas.openxmlformats.org/drawingml/2006/main">
              <a:ext uri="{FF2B5EF4-FFF2-40B4-BE49-F238E27FC236}">
                <a16:creationId xmlns:a16="http://schemas.microsoft.com/office/drawing/2014/main" id="{A6797A4C-F32A-495C-8C52-9CA4FAC5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14/15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85800" y="1638300"/>
          <a:ext xmlns:a="http://schemas.openxmlformats.org/drawingml/2006/main" cx="10820400" cy="3962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57250"/>
                <a:gridCol w="1047750"/>
                <a:gridCol w="2857500"/>
                <a:gridCol w="4095750"/>
                <a:gridCol w="1962150"/>
              </a:tblGrid>
              <a:tr h="4762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76200" marR="76200" marT="57150" marB="5715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Priority</a:t>
                      </a:r>
                    </a:p>
                  </a:txBody>
                  <a:tcPr marL="76200" marR="76200" marT="57150" marB="5715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Requirement</a:t>
                      </a:r>
                    </a:p>
                  </a:txBody>
                  <a:tcPr marL="76200" marR="76200" marT="57150" marB="5715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Delivery / verification</a:t>
                      </a:r>
                    </a:p>
                  </a:txBody>
                  <a:tcPr marL="76200" marR="76200" marT="57150" marB="5715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Current</a:t>
                      </a:r>
                    </a:p>
                  </a:txBody>
                  <a:tcPr marL="76200" marR="76200" marT="57150" marB="57150">
                    <a:solidFill>
                      <a:srgbClr val="F3F3F3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SR-1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Choose one of five mammals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KAN-32, KAN-26 / functional state test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Ready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SR-2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Filter by year, month and season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KAN-36/40/44/48 / integration tests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Ready / planned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SR-3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Should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State, monthly and weather summaries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KAN-25, KAN-26 / linked-view test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Ready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SR-4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Show source, snapshot, count and licence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KAN-24, KAN-26 / content review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 progress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NFR-1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Reproducible checks and frozen data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KAN-23, KAN-24 / CI rerun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Part done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794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15">
            <a:extLst xmlns:a="http://schemas.openxmlformats.org/drawingml/2006/main">
              <a:ext uri="{FF2B5EF4-FFF2-40B4-BE49-F238E27FC236}">
                <a16:creationId xmlns:a16="http://schemas.microsoft.com/office/drawing/2014/main" id="{CDE96B8E-C1B3-483F-B52B-54A047F3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we need from sign-off</a:t>
            </a:r>
          </a:p>
        </p:txBody>
      </p:sp>
      <p:sp>
        <p:nvSpPr>
          <p:cNvPr id="2" name="divider-142">
            <a:extLst xmlns:a="http://schemas.openxmlformats.org/drawingml/2006/main">
              <a:ext uri="{FF2B5EF4-FFF2-40B4-BE49-F238E27FC236}">
                <a16:creationId xmlns:a16="http://schemas.microsoft.com/office/drawing/2014/main" id="{5272E58D-7F9B-4DB0-BF99-ED048DB1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group-15">
            <a:extLst xmlns:a="http://schemas.openxmlformats.org/drawingml/2006/main">
              <a:ext uri="{FF2B5EF4-FFF2-40B4-BE49-F238E27FC236}">
                <a16:creationId xmlns:a16="http://schemas.microsoft.com/office/drawing/2014/main" id="{3E025E63-1C4A-4F36-AEA6-F27E1877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Australian Mammal Distribution Explorer  |  FIT3163 Group 15</a:t>
            </a:r>
          </a:p>
        </p:txBody>
      </p:sp>
      <p:sp>
        <p:nvSpPr>
          <p:cNvPr id="4" name="footer-number-15">
            <a:extLst xmlns:a="http://schemas.openxmlformats.org/drawingml/2006/main">
              <a:ext uri="{FF2B5EF4-FFF2-40B4-BE49-F238E27FC236}">
                <a16:creationId xmlns:a16="http://schemas.microsoft.com/office/drawing/2014/main" id="{CB05855A-ADE3-40C8-AE73-ECC237B8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38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B6B6B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B6B6B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753B6A21-3AEC-4CD3-ACB0-BAFBFB84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Confirm the five-species map and time filters as the MVP.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2B0E6D6F-A48A-4048-AE19-F081A8C4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Accept the frozen data contract as the immediate control.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59EC1EC5-A57F-4EF0-9E34-8BFCE717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Continue with a two-card WIP limit and clear ownership.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0FE49927-B586-47C0-93EF-33097082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36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444444"/>
                </a:solidFill>
                <a:latin typeface="Arial"/>
                <a:ea typeface="Arial"/>
                <a:cs typeface="Arial"/>
              </a:rPr>
              <a:t>•  Attach evidence as each traceable requirement moves to Done.</a:t>
            </a:r>
          </a:p>
        </p:txBody>
      </p:sp>
    </p:spTree>
    <p:extLst>
      <p:ext uri="{BB962C8B-B14F-4D97-AF65-F5344CB8AC3E}">
        <p14:creationId xmlns:p14="http://schemas.microsoft.com/office/powerpoint/2010/main" val="12464521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2026-08-10T23:29:23.5150000Z</dcterms:created>
  <dcterms:modified xsi:type="dcterms:W3CDTF">2026-08-10T23:29:23.5150000Z</dcterms:modified>
</coreProperties>
</file>