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4a0845a234c3e" /><Relationship Type="http://schemas.openxmlformats.org/officeDocument/2006/relationships/extended-properties" Target="/docProps/app.xml" Id="Ree44907e9e784c53" /><Relationship Type="http://schemas.openxmlformats.org/officeDocument/2006/relationships/officeDocument" Target="/ppt/presentation.xml" Id="R1359ffa646334a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0fe0438fd44c1a"/>
  </p:sldMasterIdLst>
  <p:notesMasterIdLst>
    <p:notesMasterId xmlns:r="http://schemas.openxmlformats.org/officeDocument/2006/relationships" r:id="Rd21350da42a0498a"/>
  </p:notesMasterIdLst>
  <p:sldIdLst>
    <p:sldId xmlns:r="http://schemas.openxmlformats.org/officeDocument/2006/relationships" id="256" r:id="R14158ac5b28948aa"/>
    <p:sldId xmlns:r="http://schemas.openxmlformats.org/officeDocument/2006/relationships" id="257" r:id="Rc9c31c4d169744b3"/>
    <p:sldId xmlns:r="http://schemas.openxmlformats.org/officeDocument/2006/relationships" id="258" r:id="Rdd7eed52ace44ca4"/>
    <p:sldId xmlns:r="http://schemas.openxmlformats.org/officeDocument/2006/relationships" id="259" r:id="R4eaa1ff2b58d4334"/>
    <p:sldId xmlns:r="http://schemas.openxmlformats.org/officeDocument/2006/relationships" id="260" r:id="R9b918d3adc324a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c66c0bf2194e98" /><Relationship Type="http://schemas.openxmlformats.org/officeDocument/2006/relationships/slideMaster" Target="/ppt/slideMasters/slideMaster1.xml" Id="R940fe0438fd44c1a" /><Relationship Type="http://schemas.openxmlformats.org/officeDocument/2006/relationships/notesMaster" Target="/ppt/notesMasters/notesMaster1.xml" Id="Rd21350da42a0498a" /><Relationship Type="http://schemas.openxmlformats.org/officeDocument/2006/relationships/presProps" Target="/ppt/presProps.xml" Id="Ra97d41f1f8cc4cf5" /><Relationship Type="http://schemas.openxmlformats.org/officeDocument/2006/relationships/tableStyles" Target="/ppt/tableStyles.xml" Id="R5d52d549a9c9448f" /><Relationship Type="http://schemas.openxmlformats.org/officeDocument/2006/relationships/slide" Target="/ppt/slides/slide1.xml" Id="R14158ac5b28948aa" /><Relationship Type="http://schemas.openxmlformats.org/officeDocument/2006/relationships/slide" Target="/ppt/slides/slide2.xml" Id="Rc9c31c4d169744b3" /><Relationship Type="http://schemas.openxmlformats.org/officeDocument/2006/relationships/slide" Target="/ppt/slides/slide3.xml" Id="Rdd7eed52ace44ca4" /><Relationship Type="http://schemas.openxmlformats.org/officeDocument/2006/relationships/slide" Target="/ppt/slides/slide4.xml" Id="R4eaa1ff2b58d4334" /><Relationship Type="http://schemas.openxmlformats.org/officeDocument/2006/relationships/slide" Target="/ppt/slides/slide5.xml" Id="R9b918d3adc32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8c188e784546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0d95553a84d4a" /><Relationship Type="http://schemas.openxmlformats.org/officeDocument/2006/relationships/notesMaster" Target="/ppt/notesMasters/notesMaster1.xml" Id="R5df49351f7be46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b8c196c8494f80" /><Relationship Type="http://schemas.openxmlformats.org/officeDocument/2006/relationships/notesMaster" Target="/ppt/notesMasters/notesMaster1.xml" Id="Re9d146b7950d41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20ef5aa7524bbf" /><Relationship Type="http://schemas.openxmlformats.org/officeDocument/2006/relationships/notesMaster" Target="/ppt/notesMasters/notesMaster1.xml" Id="Rc064e95a46d643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110efcedf14e60" /><Relationship Type="http://schemas.openxmlformats.org/officeDocument/2006/relationships/notesMaster" Target="/ppt/notesMasters/notesMaster1.xml" Id="R1e90203ab4ea4b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70bfd96e34519" /><Relationship Type="http://schemas.openxmlformats.org/officeDocument/2006/relationships/notesMaster" Target="/ppt/notesMasters/notesMaster1.xml" Id="R6039003dfcdf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pitch/Mid-sem Pitch.pdf, pages 1-2 (Week 4 sign-off requirements).</a:t>
            </a:r>
          </a:p>
          <a:p xmlns:a="http://schemas.openxmlformats.org/drawingml/2006/main">
            <a:r>
              <a:t>- README.md at origin/main (project name and team).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Jira KAN board snapshot, 11 Aug 2026 (statuses, dates, WIP and assignments).</a:t>
            </a:r>
          </a:p>
          <a:p xmlns:a="http://schemas.openxmlformats.org/drawingml/2006/main">
            <a:r>
              <a:t>- Google Drive dataset metadata (GeoJSON 98,200,569 bytes; CSV 29,118,674 bytes).</a:t>
            </a:r>
          </a:p>
          <a:p xmlns:a="http://schemas.openxmlformats.org/drawingml/2006/main">
            <a:r>
              <a:t>- pitch/sign-off example.pdf, pages 24-25 (prior-semester risk framing).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Jira issue dates and acceptance criteria: KAN-24, KAN-26, KAN-32, KAN-36, KAN-40, KAN-81 and KAN-83.</a:t>
            </a:r>
          </a:p>
          <a:p xmlns:a="http://schemas.openxmlformats.org/drawingml/2006/main">
            <a:r>
              <a:t>- pitch/Mid-sem Pitch.pdf, page 2 (SMART goals must link to milestones/deliverables).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Jira project KAN JQL snapshot, 11 Aug 2026: 4 Done, 2 In Progress, 9 Ready, 52 Backlog.</a:t>
            </a:r>
          </a:p>
          <a:p xmlns:a="http://schemas.openxmlformats.org/drawingml/2006/main">
            <a:r>
              <a:t>- Jira KAN-17, KAN-24, KAN-25, KAN-32 and KAN-36 (current and next work).</a:t>
            </a:r>
          </a:p>
          <a:p xmlns:a="http://schemas.openxmlformats.org/drawingml/2006/main">
            <a:r>
              <a:t>- pitch/sign-off example.pdf, page 14 (Kanban flow and WIP control).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pitch/sign-off example.pdf, page 10 (significant requirements and user value).</a:t>
            </a:r>
          </a:p>
          <a:p xmlns:a="http://schemas.openxmlformats.org/drawingml/2006/main">
            <a:r>
              <a:t>- Jira delivery and acceptance criteria: KAN-23 to KAN-26, KAN-32, KAN-36, KAN-40, KAN-44 and KAN-48.</a:t>
            </a:r>
          </a:p>
          <a:p xmlns:a="http://schemas.openxmlformats.org/drawingml/2006/main">
            <a:r>
              <a:t>- pitch/Mid-sem Pitch.pdf, page 2 (RTM sign-off expectations).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88a72d51a44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481dc8e9114585" /><Relationship Type="http://schemas.openxmlformats.org/officeDocument/2006/relationships/slideLayout" Target="/ppt/slideLayouts/slideLayout1.xml" Id="Rf48961e6f6c340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961e6f6c340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931a18b594b59" /><Relationship Type="http://schemas.openxmlformats.org/officeDocument/2006/relationships/notesSlide" Target="/ppt/notesSlides/notesSlide1.xml" Id="R8b77e3e6eb994f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f828851a74ffb" /><Relationship Type="http://schemas.openxmlformats.org/officeDocument/2006/relationships/notesSlide" Target="/ppt/notesSlides/notesSlide2.xml" Id="Rd7a34322f4ec47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8e59187714ca0" /><Relationship Type="http://schemas.openxmlformats.org/officeDocument/2006/relationships/notesSlide" Target="/ppt/notesSlides/notesSlide3.xml" Id="Rb8550e4c5ca344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c96c4202648ec" /><Relationship Type="http://schemas.openxmlformats.org/officeDocument/2006/relationships/chart" Target="/ppt/slides/charts/chart1.xml" Id="Rd836cbaa22094451" /><Relationship Type="http://schemas.openxmlformats.org/officeDocument/2006/relationships/notesSlide" Target="/ppt/notesSlides/notesSlide4.xml" Id="R1bd23c1e397a49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b902a8feb485b" /><Relationship Type="http://schemas.openxmlformats.org/officeDocument/2006/relationships/notesSlide" Target="/ppt/notesSlides/notesSlide5.xml" Id="Raafda0c888ac4e2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Cards</c:v>
          </c:tx>
          <c:spPr>
            <a:solidFill xmlns:a="http://schemas.openxmlformats.org/drawingml/2006/main">
              <a:srgbClr val="2F6B4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F6B4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66A1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6EA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B9C1BC"/>
              </a:solidFill>
            </c:spPr>
          </c:dPt>
          <c:cat>
            <c:strLit>
              <c:ptCount val="4"/>
              <c:pt idx="0">
                <c:v>Done</c:v>
              </c:pt>
              <c:pt idx="1">
                <c:v>Active</c:v>
              </c:pt>
              <c:pt idx="2">
                <c:v>Ready</c:v>
              </c:pt>
              <c:pt idx="3">
                <c:v>Backlog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2</c:v>
              </c:pt>
              <c:pt idx="2">
                <c:v>9</c:v>
              </c:pt>
              <c:pt idx="3">
                <c:v>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21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F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1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CF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CF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5B5664B-3382-4EF1-BA72-6213D32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1430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2B366496-8CC0-41D5-8D6B-F72E6A7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WEEK 4  •  TEAM SIGN-OFF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F3B886BE-315D-436A-B2AF-F2D1887D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43050"/>
            <a:ext cx="8382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1B"/>
                </a:solidFill>
              </a:defRPr>
            </a:pPr>
            <a:r>
              <a:rPr sz="4350" b="1">
                <a:solidFill>
                  <a:srgbClr val="17211B"/>
                </a:solidFill>
              </a:rPr>
              <a:t>Australian Mammal</a:t>
            </a:r>
          </a:p>
          <a:p xmlns:a="http://schemas.openxmlformats.org/drawingml/2006/main">
            <a:pPr>
              <a:defRPr sz="4350" b="1">
                <a:solidFill>
                  <a:srgbClr val="17211B"/>
                </a:solidFill>
              </a:defRPr>
            </a:pPr>
            <a:r>
              <a:rPr sz="4350" b="1">
                <a:solidFill>
                  <a:srgbClr val="17211B"/>
                </a:solidFill>
              </a:rPr>
              <a:t>Distribution Explorer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31BCBEA-F5EF-464C-A7BB-778696E4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6A61"/>
                </a:solidFill>
              </a:defRPr>
            </a:pPr>
            <a:r>
              <a:rPr sz="1875">
                <a:solidFill>
                  <a:srgbClr val="5D6A61"/>
                </a:solidFill>
              </a:rPr>
              <a:t>Risk register  •  SMART goals  •  Kanban  •  RTM</a:t>
            </a:r>
          </a:p>
        </p:txBody>
      </p:sp>
      <p:sp>
        <p:nvSpPr>
          <p:cNvPr id="5" name="rule-112-432">
            <a:extLst xmlns:a="http://schemas.openxmlformats.org/drawingml/2006/main">
              <a:ext uri="{FF2B5EF4-FFF2-40B4-BE49-F238E27FC236}">
                <a16:creationId xmlns:a16="http://schemas.microsoft.com/office/drawing/2014/main" id="{AC791242-339E-4A93-928C-C5121068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-dates">
            <a:extLst xmlns:a="http://schemas.openxmlformats.org/drawingml/2006/main">
              <a:ext uri="{FF2B5EF4-FFF2-40B4-BE49-F238E27FC236}">
                <a16:creationId xmlns:a16="http://schemas.microsoft.com/office/drawing/2014/main" id="{E60E44EF-E1F9-4B8F-A894-7E351EAE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11B"/>
                </a:solidFill>
              </a:defRPr>
            </a:pPr>
            <a:r>
              <a:rPr sz="1350">
                <a:solidFill>
                  <a:srgbClr val="17211B"/>
                </a:solidFill>
              </a:rPr>
              <a:t>Status snapshot: 11 August 2026</a:t>
            </a:r>
          </a:p>
          <a:p xmlns:a="http://schemas.openxmlformats.org/drawingml/2006/main">
            <a:pPr>
              <a:defRPr sz="1350">
                <a:solidFill>
                  <a:srgbClr val="17211B"/>
                </a:solidFill>
              </a:defRPr>
            </a:pPr>
            <a:r>
              <a:rPr sz="1350">
                <a:solidFill>
                  <a:srgbClr val="17211B"/>
                </a:solidFill>
              </a:rPr>
              <a:t>Sign-off target: 28 August 2026</a:t>
            </a:r>
          </a:p>
        </p:txBody>
      </p:sp>
      <p:sp>
        <p:nvSpPr>
          <p:cNvPr id="7" name="team-names">
            <a:extLst xmlns:a="http://schemas.openxmlformats.org/drawingml/2006/main">
              <a:ext uri="{FF2B5EF4-FFF2-40B4-BE49-F238E27FC236}">
                <a16:creationId xmlns:a16="http://schemas.microsoft.com/office/drawing/2014/main" id="{8A4FD3B7-DFA7-425C-9904-EB8CD4D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6A61"/>
                </a:solidFill>
              </a:defRPr>
            </a:pPr>
            <a:r>
              <a:rPr sz="1275">
                <a:solidFill>
                  <a:srgbClr val="5D6A61"/>
                </a:solidFill>
              </a:rPr>
              <a:t>Shu Sato  •  Kok Hee Tan  •  Nethra Yamala  •  William Koo</a:t>
            </a:r>
          </a:p>
        </p:txBody>
      </p:sp>
      <p:sp>
        <p:nvSpPr>
          <p:cNvPr id="8" name="footer-1">
            <a:extLst xmlns:a="http://schemas.openxmlformats.org/drawingml/2006/main">
              <a:ext uri="{FF2B5EF4-FFF2-40B4-BE49-F238E27FC236}">
                <a16:creationId xmlns:a16="http://schemas.microsoft.com/office/drawing/2014/main" id="{C31864E0-4E6D-4C54-A7AC-ACA09AF7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Australian Mammal Distribution Explorer  |  FIT3163 Group 15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DA6F67EC-1A43-424D-BA6B-1940A027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67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745639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2">
            <a:extLst xmlns:a="http://schemas.openxmlformats.org/drawingml/2006/main">
              <a:ext uri="{FF2B5EF4-FFF2-40B4-BE49-F238E27FC236}">
                <a16:creationId xmlns:a16="http://schemas.microsoft.com/office/drawing/2014/main" id="{E98D80C0-355C-4501-9001-575B73F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RISK REGISTER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F40A902-9FBC-4DEF-B62F-99614E3E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1B"/>
                </a:solidFill>
              </a:defRPr>
            </a:pPr>
            <a:r>
              <a:rPr sz="2700" b="1">
                <a:solidFill>
                  <a:srgbClr val="17211B"/>
                </a:solidFill>
              </a:rPr>
              <a:t>The largest delivery risk is the data-to-map handoff</a:t>
            </a:r>
          </a:p>
        </p:txBody>
      </p:sp>
      <p:sp>
        <p:nvSpPr>
          <p:cNvPr id="3" name="rule-72-143">
            <a:extLst xmlns:a="http://schemas.openxmlformats.org/drawingml/2006/main">
              <a:ext uri="{FF2B5EF4-FFF2-40B4-BE49-F238E27FC236}">
                <a16:creationId xmlns:a16="http://schemas.microsoft.com/office/drawing/2014/main" id="{852994C9-CF4C-45CE-8858-325ACCD0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2533650"/>
                <a:gridCol w="457200"/>
                <a:gridCol w="457200"/>
                <a:gridCol w="971550"/>
                <a:gridCol w="5867400"/>
              </a:tblGrid>
              <a:tr h="746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Current control / contingency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R1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Map payload is too large for a responsive demo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8453B"/>
                          </a:solidFill>
                        </a:rPr>
                        <a:t>Extreme</a:t>
                      </a:r>
                    </a:p>
                  </a:txBody>
                  <a:tcPr marL="91440" marR="91440" marT="45720" marB="45720">
                    <a:solidFill>
                      <a:srgbClr val="F6E3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Pre-aggregate and cluster; test a smaller sample before full integration.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R2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Dataset schema or versions drift between Drive and the app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A8453B"/>
                          </a:solidFill>
                        </a:rPr>
                        <a:t>Extreme</a:t>
                      </a:r>
                    </a:p>
                  </a:txBody>
                  <a:tcPr marL="91440" marR="91440" marT="45720" marB="45720">
                    <a:solidFill>
                      <a:srgbClr val="F6E3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Freeze a named snapshot, checksum it, and agree the frontend schema before 17 Aug.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R3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Ready work concentrates on too few people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6A1C"/>
                          </a:solidFill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F8EB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Assign each pulled card, keep WIP at 2, and time-box review hand-offs.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R4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Optional modelling displaces the core MVP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6A1C"/>
                          </a:solidFill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F8EB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Deliver five-species map and time flow first; retain MaxEnt as conditional scope.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isk-callout">
            <a:extLst xmlns:a="http://schemas.openxmlformats.org/drawingml/2006/main">
              <a:ext uri="{FF2B5EF4-FFF2-40B4-BE49-F238E27FC236}">
                <a16:creationId xmlns:a16="http://schemas.microsoft.com/office/drawing/2014/main" id="{0BAE0079-7569-460C-93BB-1F9521DC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C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6" name="risk-callout-text">
            <a:extLst xmlns:a="http://schemas.openxmlformats.org/drawingml/2006/main">
              <a:ext uri="{FF2B5EF4-FFF2-40B4-BE49-F238E27FC236}">
                <a16:creationId xmlns:a16="http://schemas.microsoft.com/office/drawing/2014/main" id="{DA347C31-1968-48B4-9D34-A40168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14B38"/>
                </a:solidFill>
              </a:defRPr>
            </a:pPr>
            <a:r>
              <a:rPr sz="1425" b="1">
                <a:solidFill>
                  <a:srgbClr val="214B38"/>
                </a:solidFill>
              </a:rPr>
              <a:t>Immediate control: freeze the data contract before frontend work begins on 17 August.</a:t>
            </a:r>
          </a:p>
        </p:txBody>
      </p:sp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09C356B6-7447-458E-9A65-3D017D0F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Australian Mammal Distribution Explorer  |  FIT3163 Group 15</a:t>
            </a:r>
          </a:p>
        </p:txBody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4235176B-1575-43FD-A32E-3E9F712E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67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5086594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3">
            <a:extLst xmlns:a="http://schemas.openxmlformats.org/drawingml/2006/main">
              <a:ext uri="{FF2B5EF4-FFF2-40B4-BE49-F238E27FC236}">
                <a16:creationId xmlns:a16="http://schemas.microsoft.com/office/drawing/2014/main" id="{78228077-C9AF-4C58-A579-B6664D83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SMART GOALS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183B02D-E4FB-4951-BC9E-5792EAC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1B"/>
                </a:solidFill>
              </a:defRPr>
            </a:pPr>
            <a:r>
              <a:rPr sz="2700" b="1">
                <a:solidFill>
                  <a:srgbClr val="17211B"/>
                </a:solidFill>
              </a:rPr>
              <a:t>Four dated goals carry the project to the Week 6 pitch</a:t>
            </a:r>
          </a:p>
        </p:txBody>
      </p:sp>
      <p:sp>
        <p:nvSpPr>
          <p:cNvPr id="3" name="rule-72-143">
            <a:extLst xmlns:a="http://schemas.openxmlformats.org/drawingml/2006/main">
              <a:ext uri="{FF2B5EF4-FFF2-40B4-BE49-F238E27FC236}">
                <a16:creationId xmlns:a16="http://schemas.microsoft.com/office/drawing/2014/main" id="{F2F9FCD2-8D6B-41A8-97EE-7ACA43E3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1-id">
            <a:extLst xmlns:a="http://schemas.openxmlformats.org/drawingml/2006/main">
              <a:ext uri="{FF2B5EF4-FFF2-40B4-BE49-F238E27FC236}">
                <a16:creationId xmlns:a16="http://schemas.microsoft.com/office/drawing/2014/main" id="{BFE3DD55-3D8A-448A-9633-AF4CE151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G1</a:t>
            </a:r>
          </a:p>
        </p:txBody>
      </p:sp>
      <p:sp>
        <p:nvSpPr>
          <p:cNvPr id="5" name="G1-date">
            <a:extLst xmlns:a="http://schemas.openxmlformats.org/drawingml/2006/main">
              <a:ext uri="{FF2B5EF4-FFF2-40B4-BE49-F238E27FC236}">
                <a16:creationId xmlns:a16="http://schemas.microsoft.com/office/drawing/2014/main" id="{299DECCD-7119-4066-9777-340B314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85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1"/>
                </a:solidFill>
              </a:defRPr>
            </a:pPr>
            <a:r>
              <a:rPr sz="1200" b="1">
                <a:solidFill>
                  <a:srgbClr val="5D6A61"/>
                </a:solidFill>
              </a:rPr>
              <a:t>14 AUG</a:t>
            </a:r>
          </a:p>
        </p:txBody>
      </p:sp>
      <p:sp>
        <p:nvSpPr>
          <p:cNvPr id="6" name="G1-title">
            <a:extLst xmlns:a="http://schemas.openxmlformats.org/drawingml/2006/main">
              <a:ext uri="{FF2B5EF4-FFF2-40B4-BE49-F238E27FC236}">
                <a16:creationId xmlns:a16="http://schemas.microsoft.com/office/drawing/2014/main" id="{BB4FFFF7-4D84-4EFD-9EA8-35F68F67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192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1B"/>
                </a:solidFill>
              </a:defRPr>
            </a:pPr>
            <a:r>
              <a:rPr sz="1800" b="1">
                <a:solidFill>
                  <a:srgbClr val="17211B"/>
                </a:solidFill>
              </a:rPr>
              <a:t>Publish the five-species frozen snapshot</a:t>
            </a:r>
          </a:p>
        </p:txBody>
      </p:sp>
      <p:sp>
        <p:nvSpPr>
          <p:cNvPr id="7" name="G1-measure">
            <a:extLst xmlns:a="http://schemas.openxmlformats.org/drawingml/2006/main">
              <a:ext uri="{FF2B5EF4-FFF2-40B4-BE49-F238E27FC236}">
                <a16:creationId xmlns:a16="http://schemas.microsoft.com/office/drawing/2014/main" id="{6A1509B0-6700-45A8-B22B-7CBCF4B7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6215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1B"/>
                </a:solidFill>
              </a:defRPr>
            </a:pPr>
            <a:r>
              <a:rPr sz="1275">
                <a:solidFill>
                  <a:srgbClr val="17211B"/>
                </a:solidFill>
              </a:rPr>
              <a:t>Manifest, source/licence metadata, validation checks and reproducible cleaning steps are complete.</a:t>
            </a:r>
          </a:p>
        </p:txBody>
      </p:sp>
      <p:sp>
        <p:nvSpPr>
          <p:cNvPr id="8" name="G1-link">
            <a:extLst xmlns:a="http://schemas.openxmlformats.org/drawingml/2006/main">
              <a:ext uri="{FF2B5EF4-FFF2-40B4-BE49-F238E27FC236}">
                <a16:creationId xmlns:a16="http://schemas.microsoft.com/office/drawing/2014/main" id="{2D5A751F-C7FD-4A2E-B158-D2096553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KAN-24  •  Data foundation</a:t>
            </a:r>
          </a:p>
        </p:txBody>
      </p:sp>
      <p:sp>
        <p:nvSpPr>
          <p:cNvPr id="9" name="rule-72-282">
            <a:extLst xmlns:a="http://schemas.openxmlformats.org/drawingml/2006/main">
              <a:ext uri="{FF2B5EF4-FFF2-40B4-BE49-F238E27FC236}">
                <a16:creationId xmlns:a16="http://schemas.microsoft.com/office/drawing/2014/main" id="{4D2AD9AB-F5FA-4C76-BF2C-7D717C93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2-id">
            <a:extLst xmlns:a="http://schemas.openxmlformats.org/drawingml/2006/main">
              <a:ext uri="{FF2B5EF4-FFF2-40B4-BE49-F238E27FC236}">
                <a16:creationId xmlns:a16="http://schemas.microsoft.com/office/drawing/2014/main" id="{0EFB5FB9-64FF-49AC-A407-9B3D693B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G2</a:t>
            </a:r>
          </a:p>
        </p:txBody>
      </p:sp>
      <p:sp>
        <p:nvSpPr>
          <p:cNvPr id="11" name="G2-date">
            <a:extLst xmlns:a="http://schemas.openxmlformats.org/drawingml/2006/main">
              <a:ext uri="{FF2B5EF4-FFF2-40B4-BE49-F238E27FC236}">
                <a16:creationId xmlns:a16="http://schemas.microsoft.com/office/drawing/2014/main" id="{9EB51116-0AC5-44EA-A99C-6EECB71C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1"/>
                </a:solidFill>
              </a:defRPr>
            </a:pPr>
            <a:r>
              <a:rPr sz="1200" b="1">
                <a:solidFill>
                  <a:srgbClr val="5D6A61"/>
                </a:solidFill>
              </a:rPr>
              <a:t>21 AUG</a:t>
            </a:r>
          </a:p>
        </p:txBody>
      </p:sp>
      <p:sp>
        <p:nvSpPr>
          <p:cNvPr id="12" name="G2-title">
            <a:extLst xmlns:a="http://schemas.openxmlformats.org/drawingml/2006/main">
              <a:ext uri="{FF2B5EF4-FFF2-40B4-BE49-F238E27FC236}">
                <a16:creationId xmlns:a16="http://schemas.microsoft.com/office/drawing/2014/main" id="{CDE21493-A283-4CDD-A0F3-CB3F12B1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81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1B"/>
                </a:solidFill>
              </a:defRPr>
            </a:pPr>
            <a:r>
              <a:rPr sz="1800" b="1">
                <a:solidFill>
                  <a:srgbClr val="17211B"/>
                </a:solidFill>
              </a:rPr>
              <a:t>Demonstrate the UI and map skeleton</a:t>
            </a:r>
          </a:p>
        </p:txBody>
      </p:sp>
      <p:sp>
        <p:nvSpPr>
          <p:cNvPr id="13" name="G2-measure">
            <a:extLst xmlns:a="http://schemas.openxmlformats.org/drawingml/2006/main">
              <a:ext uri="{FF2B5EF4-FFF2-40B4-BE49-F238E27FC236}">
                <a16:creationId xmlns:a16="http://schemas.microsoft.com/office/drawing/2014/main" id="{F33E8ACE-DE6B-4CC8-80E6-F4B5CC92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2420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1B"/>
                </a:solidFill>
              </a:defRPr>
            </a:pPr>
            <a:r>
              <a:rPr sz="1275">
                <a:solidFill>
                  <a:srgbClr val="17211B"/>
                </a:solidFill>
              </a:rPr>
              <a:t>All five species appear in the selector and the attributed MapLibre base map loads from a clean checkout.</a:t>
            </a:r>
          </a:p>
        </p:txBody>
      </p:sp>
      <p:sp>
        <p:nvSpPr>
          <p:cNvPr id="14" name="G2-link">
            <a:extLst xmlns:a="http://schemas.openxmlformats.org/drawingml/2006/main">
              <a:ext uri="{FF2B5EF4-FFF2-40B4-BE49-F238E27FC236}">
                <a16:creationId xmlns:a16="http://schemas.microsoft.com/office/drawing/2014/main" id="{B70AFCAF-CF26-495E-B744-94789A8C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KAN-32 + KAN-36  •  Core explorer</a:t>
            </a:r>
          </a:p>
        </p:txBody>
      </p:sp>
      <p:sp>
        <p:nvSpPr>
          <p:cNvPr id="15" name="rule-72-404">
            <a:extLst xmlns:a="http://schemas.openxmlformats.org/drawingml/2006/main">
              <a:ext uri="{FF2B5EF4-FFF2-40B4-BE49-F238E27FC236}">
                <a16:creationId xmlns:a16="http://schemas.microsoft.com/office/drawing/2014/main" id="{C3DBD43D-630E-497D-B2AC-FEE3B4B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3-id">
            <a:extLst xmlns:a="http://schemas.openxmlformats.org/drawingml/2006/main">
              <a:ext uri="{FF2B5EF4-FFF2-40B4-BE49-F238E27FC236}">
                <a16:creationId xmlns:a16="http://schemas.microsoft.com/office/drawing/2014/main" id="{79580D3B-0D67-4F3F-AF89-4CAA2A24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G3</a:t>
            </a:r>
          </a:p>
        </p:txBody>
      </p:sp>
      <p:sp>
        <p:nvSpPr>
          <p:cNvPr id="17" name="G3-date">
            <a:extLst xmlns:a="http://schemas.openxmlformats.org/drawingml/2006/main">
              <a:ext uri="{FF2B5EF4-FFF2-40B4-BE49-F238E27FC236}">
                <a16:creationId xmlns:a16="http://schemas.microsoft.com/office/drawing/2014/main" id="{C6E4CF89-48E3-4525-9498-72291163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00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1"/>
                </a:solidFill>
              </a:defRPr>
            </a:pPr>
            <a:r>
              <a:rPr sz="1200" b="1">
                <a:solidFill>
                  <a:srgbClr val="5D6A61"/>
                </a:solidFill>
              </a:rPr>
              <a:t>28 AUG</a:t>
            </a:r>
          </a:p>
        </p:txBody>
      </p:sp>
      <p:sp>
        <p:nvSpPr>
          <p:cNvPr id="18" name="G3-title">
            <a:extLst xmlns:a="http://schemas.openxmlformats.org/drawingml/2006/main">
              <a:ext uri="{FF2B5EF4-FFF2-40B4-BE49-F238E27FC236}">
                <a16:creationId xmlns:a16="http://schemas.microsoft.com/office/drawing/2014/main" id="{5FEEC96E-FC1F-41FA-8A61-80A2C25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433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1B"/>
                </a:solidFill>
              </a:defRPr>
            </a:pPr>
            <a:r>
              <a:rPr sz="1800" b="1">
                <a:solidFill>
                  <a:srgbClr val="17211B"/>
                </a:solidFill>
              </a:rPr>
              <a:t>Show one traceable end-to-end sample</a:t>
            </a:r>
          </a:p>
        </p:txBody>
      </p:sp>
      <p:sp>
        <p:nvSpPr>
          <p:cNvPr id="19" name="G3-measure">
            <a:extLst xmlns:a="http://schemas.openxmlformats.org/drawingml/2006/main">
              <a:ext uri="{FF2B5EF4-FFF2-40B4-BE49-F238E27FC236}">
                <a16:creationId xmlns:a16="http://schemas.microsoft.com/office/drawing/2014/main" id="{A4757C9A-57DB-41A4-80A3-7B10DD7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8625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1B"/>
                </a:solidFill>
              </a:defRPr>
            </a:pPr>
            <a:r>
              <a:rPr sz="1275">
                <a:solidFill>
                  <a:srgbClr val="17211B"/>
                </a:solidFill>
              </a:rPr>
              <a:t>One species dataset reaches the map with loading, empty and invalid-data states documented for sign-off.</a:t>
            </a:r>
          </a:p>
        </p:txBody>
      </p:sp>
      <p:sp>
        <p:nvSpPr>
          <p:cNvPr id="20" name="G3-link">
            <a:extLst xmlns:a="http://schemas.openxmlformats.org/drawingml/2006/main">
              <a:ext uri="{FF2B5EF4-FFF2-40B4-BE49-F238E27FC236}">
                <a16:creationId xmlns:a16="http://schemas.microsoft.com/office/drawing/2014/main" id="{19AD656C-00D2-4317-AA10-EE5E9EC7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863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KAN-40 + KAN-81  •  Week 4 checkpoint</a:t>
            </a:r>
          </a:p>
        </p:txBody>
      </p:sp>
      <p:sp>
        <p:nvSpPr>
          <p:cNvPr id="21" name="rule-72-526">
            <a:extLst xmlns:a="http://schemas.openxmlformats.org/drawingml/2006/main">
              <a:ext uri="{FF2B5EF4-FFF2-40B4-BE49-F238E27FC236}">
                <a16:creationId xmlns:a16="http://schemas.microsoft.com/office/drawing/2014/main" id="{D7850834-9F68-4C36-B057-AC4DAEF5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4-id">
            <a:extLst xmlns:a="http://schemas.openxmlformats.org/drawingml/2006/main">
              <a:ext uri="{FF2B5EF4-FFF2-40B4-BE49-F238E27FC236}">
                <a16:creationId xmlns:a16="http://schemas.microsoft.com/office/drawing/2014/main" id="{367A805D-7946-478A-BF10-6D586B62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G4</a:t>
            </a:r>
          </a:p>
        </p:txBody>
      </p:sp>
      <p:sp>
        <p:nvSpPr>
          <p:cNvPr id="23" name="G4-date">
            <a:extLst xmlns:a="http://schemas.openxmlformats.org/drawingml/2006/main">
              <a:ext uri="{FF2B5EF4-FFF2-40B4-BE49-F238E27FC236}">
                <a16:creationId xmlns:a16="http://schemas.microsoft.com/office/drawing/2014/main" id="{787FC37B-2B34-47A6-B646-013B966C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A61"/>
                </a:solidFill>
              </a:defRPr>
            </a:pPr>
            <a:r>
              <a:rPr sz="1200" b="1">
                <a:solidFill>
                  <a:srgbClr val="5D6A61"/>
                </a:solidFill>
              </a:rPr>
              <a:t>11 SEP</a:t>
            </a:r>
          </a:p>
        </p:txBody>
      </p:sp>
      <p:sp>
        <p:nvSpPr>
          <p:cNvPr id="24" name="G4-title">
            <a:extLst xmlns:a="http://schemas.openxmlformats.org/drawingml/2006/main">
              <a:ext uri="{FF2B5EF4-FFF2-40B4-BE49-F238E27FC236}">
                <a16:creationId xmlns:a16="http://schemas.microsoft.com/office/drawing/2014/main" id="{8B3D3D9F-46F9-4C88-B7A0-9C6D85D9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1B"/>
                </a:solidFill>
              </a:defRPr>
            </a:pPr>
            <a:r>
              <a:rPr sz="1800" b="1">
                <a:solidFill>
                  <a:srgbClr val="17211B"/>
                </a:solidFill>
              </a:rPr>
              <a:t>Pitch a tested vertical slice</a:t>
            </a:r>
          </a:p>
        </p:txBody>
      </p:sp>
      <p:sp>
        <p:nvSpPr>
          <p:cNvPr id="25" name="G4-measure">
            <a:extLst xmlns:a="http://schemas.openxmlformats.org/drawingml/2006/main">
              <a:ext uri="{FF2B5EF4-FFF2-40B4-BE49-F238E27FC236}">
                <a16:creationId xmlns:a16="http://schemas.microsoft.com/office/drawing/2014/main" id="{EB98E5DC-60AD-43C6-8262-FA52DDDC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4830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11B"/>
                </a:solidFill>
              </a:defRPr>
            </a:pPr>
            <a:r>
              <a:rPr sz="1275">
                <a:solidFill>
                  <a:srgbClr val="17211B"/>
                </a:solidFill>
              </a:rPr>
              <a:t>Species selection, map and one time interaction work together with CI and test evidence ready for questions.</a:t>
            </a:r>
          </a:p>
        </p:txBody>
      </p:sp>
      <p:sp>
        <p:nvSpPr>
          <p:cNvPr id="26" name="G4-link">
            <a:extLst xmlns:a="http://schemas.openxmlformats.org/drawingml/2006/main">
              <a:ext uri="{FF2B5EF4-FFF2-40B4-BE49-F238E27FC236}">
                <a16:creationId xmlns:a16="http://schemas.microsoft.com/office/drawing/2014/main" id="{0547BD2A-D168-488A-9659-D59911B1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483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KAN-26 + KAN-83  •  Week 6 pitch</a:t>
            </a:r>
          </a:p>
        </p:txBody>
      </p:sp>
      <p:sp>
        <p:nvSpPr>
          <p:cNvPr id="27" name="rule-72-648">
            <a:extLst xmlns:a="http://schemas.openxmlformats.org/drawingml/2006/main">
              <a:ext uri="{FF2B5EF4-FFF2-40B4-BE49-F238E27FC236}">
                <a16:creationId xmlns:a16="http://schemas.microsoft.com/office/drawing/2014/main" id="{0A530054-79D6-48CD-9179-97873B15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3">
            <a:extLst xmlns:a="http://schemas.openxmlformats.org/drawingml/2006/main">
              <a:ext uri="{FF2B5EF4-FFF2-40B4-BE49-F238E27FC236}">
                <a16:creationId xmlns:a16="http://schemas.microsoft.com/office/drawing/2014/main" id="{A69606A9-E11F-48F2-ADAB-BD09D65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Australian Mammal Distribution Explorer  |  FIT3163 Group 15</a:t>
            </a:r>
          </a:p>
        </p:txBody>
      </p:sp>
      <p:sp>
        <p:nvSpPr>
          <p:cNvPr id="29" name="page-3">
            <a:extLst xmlns:a="http://schemas.openxmlformats.org/drawingml/2006/main">
              <a:ext uri="{FF2B5EF4-FFF2-40B4-BE49-F238E27FC236}">
                <a16:creationId xmlns:a16="http://schemas.microsoft.com/office/drawing/2014/main" id="{935CE345-FE88-4834-9745-4E2A884D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67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447896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CBAA9BC3-08AC-47AD-9B96-C3D989E7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UPDATED KANBAN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8AA214C-3243-4D81-B15E-39CEC9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1B"/>
                </a:solidFill>
              </a:defRPr>
            </a:pPr>
            <a:r>
              <a:rPr sz="2700" b="1">
                <a:solidFill>
                  <a:srgbClr val="17211B"/>
                </a:solidFill>
              </a:rPr>
              <a:t>The board now shows a controlled two-item WIP</a:t>
            </a:r>
          </a:p>
        </p:txBody>
      </p:sp>
      <p:sp>
        <p:nvSpPr>
          <p:cNvPr id="3" name="rule-72-143">
            <a:extLst xmlns:a="http://schemas.openxmlformats.org/drawingml/2006/main">
              <a:ext uri="{FF2B5EF4-FFF2-40B4-BE49-F238E27FC236}">
                <a16:creationId xmlns:a16="http://schemas.microsoft.com/office/drawing/2014/main" id="{BE3DCA24-7708-479E-BFAB-E74F576E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590550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36cbaa22094451"/>
          </a:graphicData>
        </a:graphic>
      </p:graphicFrame>
      <p:sp>
        <p:nvSpPr>
          <p:cNvPr id="5" name="kanban-total">
            <a:extLst xmlns:a="http://schemas.openxmlformats.org/drawingml/2006/main">
              <a:ext uri="{FF2B5EF4-FFF2-40B4-BE49-F238E27FC236}">
                <a16:creationId xmlns:a16="http://schemas.microsoft.com/office/drawing/2014/main" id="{126969F8-FD40-4E68-A0FD-03C27D5F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F6B4F"/>
                </a:solidFill>
              </a:defRPr>
            </a:pPr>
            <a:r>
              <a:rPr sz="4500" b="1">
                <a:solidFill>
                  <a:srgbClr val="2F6B4F"/>
                </a:solidFill>
              </a:rPr>
              <a:t>67</a:t>
            </a:r>
          </a:p>
        </p:txBody>
      </p:sp>
      <p:sp>
        <p:nvSpPr>
          <p:cNvPr id="6" name="kanban-total-label">
            <a:extLst xmlns:a="http://schemas.openxmlformats.org/drawingml/2006/main">
              <a:ext uri="{FF2B5EF4-FFF2-40B4-BE49-F238E27FC236}">
                <a16:creationId xmlns:a16="http://schemas.microsoft.com/office/drawing/2014/main" id="{56228EF5-0AB8-407C-8B30-9D22C2C4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A61"/>
                </a:solidFill>
              </a:defRPr>
            </a:pPr>
            <a:r>
              <a:rPr sz="1350">
                <a:solidFill>
                  <a:srgbClr val="5D6A61"/>
                </a:solidFill>
              </a:rPr>
              <a:t>total cards</a:t>
            </a:r>
          </a:p>
        </p:txBody>
      </p:sp>
      <p:sp>
        <p:nvSpPr>
          <p:cNvPr id="7" name="current-focus-label">
            <a:extLst xmlns:a="http://schemas.openxmlformats.org/drawingml/2006/main">
              <a:ext uri="{FF2B5EF4-FFF2-40B4-BE49-F238E27FC236}">
                <a16:creationId xmlns:a16="http://schemas.microsoft.com/office/drawing/2014/main" id="{06A1AC4B-38EA-4DF7-BFD8-CD0FE61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CURRENT FOCUS</a:t>
            </a:r>
          </a:p>
        </p:txBody>
      </p:sp>
      <p:sp>
        <p:nvSpPr>
          <p:cNvPr id="8" name="current-focus-list">
            <a:extLst xmlns:a="http://schemas.openxmlformats.org/drawingml/2006/main">
              <a:ext uri="{FF2B5EF4-FFF2-40B4-BE49-F238E27FC236}">
                <a16:creationId xmlns:a16="http://schemas.microsoft.com/office/drawing/2014/main" id="{45CF5A0B-C900-414B-A882-A3866E30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1B"/>
                </a:solidFill>
              </a:defRPr>
            </a:pPr>
            <a:r>
              <a:rPr sz="1425">
                <a:solidFill>
                  <a:srgbClr val="17211B"/>
                </a:solidFill>
              </a:rPr>
              <a:t>• KAN-17  Data pipeline epic</a:t>
            </a:r>
          </a:p>
          <a:p xmlns:a="http://schemas.openxmlformats.org/drawingml/2006/main">
            <a:pPr>
              <a:defRPr sz="1425">
                <a:solidFill>
                  <a:srgbClr val="17211B"/>
                </a:solidFill>
              </a:defRPr>
            </a:pPr>
            <a:r>
              <a:rPr sz="1425">
                <a:solidFill>
                  <a:srgbClr val="17211B"/>
                </a:solidFill>
              </a:rPr>
              <a:t>• KAN-24  Frozen ALA snapshot</a:t>
            </a:r>
          </a:p>
        </p:txBody>
      </p:sp>
      <p:sp>
        <p:nvSpPr>
          <p:cNvPr id="9" name="next-pull-label">
            <a:extLst xmlns:a="http://schemas.openxmlformats.org/drawingml/2006/main">
              <a:ext uri="{FF2B5EF4-FFF2-40B4-BE49-F238E27FC236}">
                <a16:creationId xmlns:a16="http://schemas.microsoft.com/office/drawing/2014/main" id="{1B792C9C-9D83-4F3D-8D90-160C56A7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6EA3"/>
                </a:solidFill>
              </a:defRPr>
            </a:pPr>
            <a:r>
              <a:rPr sz="1050" b="1">
                <a:solidFill>
                  <a:srgbClr val="2D6EA3"/>
                </a:solidFill>
              </a:rPr>
              <a:t>NEXT PULL</a:t>
            </a:r>
          </a:p>
        </p:txBody>
      </p:sp>
      <p:sp>
        <p:nvSpPr>
          <p:cNvPr id="10" name="next-pull-copy">
            <a:extLst xmlns:a="http://schemas.openxmlformats.org/drawingml/2006/main">
              <a:ext uri="{FF2B5EF4-FFF2-40B4-BE49-F238E27FC236}">
                <a16:creationId xmlns:a16="http://schemas.microsoft.com/office/drawing/2014/main" id="{BDA8E5C4-4FE0-4581-9B0B-303576F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11B"/>
                </a:solidFill>
              </a:defRPr>
            </a:pPr>
            <a:r>
              <a:rPr sz="1425">
                <a:solidFill>
                  <a:srgbClr val="17211B"/>
                </a:solidFill>
              </a:rPr>
              <a:t>Environmental data, species selector,</a:t>
            </a:r>
          </a:p>
          <a:p xmlns:a="http://schemas.openxmlformats.org/drawingml/2006/main">
            <a:pPr>
              <a:defRPr sz="1425">
                <a:solidFill>
                  <a:srgbClr val="17211B"/>
                </a:solidFill>
              </a:defRPr>
            </a:pPr>
            <a:r>
              <a:rPr sz="1425">
                <a:solidFill>
                  <a:srgbClr val="17211B"/>
                </a:solidFill>
              </a:rPr>
              <a:t>and MapLibre base map are Ready.</a:t>
            </a:r>
          </a:p>
        </p:txBody>
      </p:sp>
      <p:sp>
        <p:nvSpPr>
          <p:cNvPr id="11" name="kanban-callout">
            <a:extLst xmlns:a="http://schemas.openxmlformats.org/drawingml/2006/main">
              <a:ext uri="{FF2B5EF4-FFF2-40B4-BE49-F238E27FC236}">
                <a16:creationId xmlns:a16="http://schemas.microsoft.com/office/drawing/2014/main" id="{49F5497E-A9FF-478A-BC77-FF6E2CA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kanban-callout-text">
            <a:extLst xmlns:a="http://schemas.openxmlformats.org/drawingml/2006/main">
              <a:ext uri="{FF2B5EF4-FFF2-40B4-BE49-F238E27FC236}">
                <a16:creationId xmlns:a16="http://schemas.microsoft.com/office/drawing/2014/main" id="{57B7FFA9-9643-45D0-ABDC-4FAC9D68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1B"/>
                </a:solidFill>
              </a:defRPr>
            </a:pPr>
            <a:r>
              <a:rPr sz="1350" b="1">
                <a:solidFill>
                  <a:srgbClr val="17211B"/>
                </a:solidFill>
              </a:rPr>
              <a:t>Policy: pull from Ready, assign before starting, and keep no more than two active cards.</a:t>
            </a:r>
          </a:p>
        </p:txBody>
      </p: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61A71FC5-1C33-4FE1-B396-686D2E1A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Australian Mammal Distribution Explorer  |  FIT3163 Group 15</a:t>
            </a:r>
          </a:p>
        </p:txBody>
      </p:sp>
      <p:sp>
        <p:nvSpPr>
          <p:cNvPr id="14" name="page-4">
            <a:extLst xmlns:a="http://schemas.openxmlformats.org/drawingml/2006/main">
              <a:ext uri="{FF2B5EF4-FFF2-40B4-BE49-F238E27FC236}">
                <a16:creationId xmlns:a16="http://schemas.microsoft.com/office/drawing/2014/main" id="{E8DA5BD0-95AB-4D40-B40E-F9DEF3CD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67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361376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5">
            <a:extLst xmlns:a="http://schemas.openxmlformats.org/drawingml/2006/main">
              <a:ext uri="{FF2B5EF4-FFF2-40B4-BE49-F238E27FC236}">
                <a16:creationId xmlns:a16="http://schemas.microsoft.com/office/drawing/2014/main" id="{18F519F5-406C-45A6-9746-D50A3B37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REQUIREMENTS TRACEABILITY MATRIX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592B64B-0DB1-4E36-BA84-77F0941F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1B"/>
                </a:solidFill>
              </a:defRPr>
            </a:pPr>
            <a:r>
              <a:rPr sz="2700" b="1">
                <a:solidFill>
                  <a:srgbClr val="17211B"/>
                </a:solidFill>
              </a:rPr>
              <a:t>High-priority requirements are fully traceable</a:t>
            </a:r>
          </a:p>
        </p:txBody>
      </p:sp>
      <p:sp>
        <p:nvSpPr>
          <p:cNvPr id="3" name="rule-72-143">
            <a:extLst xmlns:a="http://schemas.openxmlformats.org/drawingml/2006/main">
              <a:ext uri="{FF2B5EF4-FFF2-40B4-BE49-F238E27FC236}">
                <a16:creationId xmlns:a16="http://schemas.microsoft.com/office/drawing/2014/main" id="{1CD67FEE-AB77-4E97-BA3E-9F5B2E1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"/>
                <a:gridCol w="2781300"/>
                <a:gridCol w="876300"/>
                <a:gridCol w="1943100"/>
                <a:gridCol w="2952750"/>
                <a:gridCol w="1638300"/>
              </a:tblGrid>
              <a:tr h="6572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Delivery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Current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SR-1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Choose one of five MVP mammals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KAN-32, KAN-26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Functional selection and state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6EA3"/>
                          </a:solidFill>
                        </a:rPr>
                        <a:t>Ready</a:t>
                      </a:r>
                    </a:p>
                  </a:txBody>
                  <a:tcPr marL="91440" marR="91440" marT="45720" marB="45720">
                    <a:solidFill>
                      <a:srgbClr val="E9F1F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SR-2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Map records; filter by year, month and season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KAN-36/40/44/48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Functional and integration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D6A61"/>
                          </a:solidFill>
                        </a:rPr>
                        <a:t>Ready / planned</a:t>
                      </a:r>
                    </a:p>
                  </a:txBody>
                  <a:tcPr marL="91440" marR="91440" marT="45720" marB="45720">
                    <a:solidFill>
                      <a:srgbClr val="EEF1E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SR-3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Show state, monthly and weather summaries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Should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KAN-25, KAN-26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Data validation and linked-view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D6EA3"/>
                          </a:solidFill>
                        </a:rPr>
                        <a:t>Ready</a:t>
                      </a:r>
                    </a:p>
                  </a:txBody>
                  <a:tcPr marL="91440" marR="91440" marT="45720" marB="45720">
                    <a:solidFill>
                      <a:srgbClr val="E9F1F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SR-4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Show source, snapshot, count and licence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KAN-24, KAN-26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Manifest and UI content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66A1C"/>
                          </a:solidFill>
                        </a:rPr>
                        <a:t>In progress</a:t>
                      </a:r>
                    </a:p>
                  </a:txBody>
                  <a:tcPr marL="91440" marR="91440" marT="45720" marB="45720">
                    <a:solidFill>
                      <a:srgbClr val="F8EBD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NFR-1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Reproducible checks and frozen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Must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KAN-23, KAN-24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11B"/>
                          </a:solidFill>
                        </a:rPr>
                        <a:t>CI plus rerun from frozen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4B38"/>
                          </a:solidFill>
                        </a:rPr>
                        <a:t>Part done</a:t>
                      </a:r>
                    </a:p>
                  </a:txBody>
                  <a:tcPr marL="91440" marR="91440" marT="45720" marB="45720">
                    <a:solidFill>
                      <a:srgbClr val="E8F2EC"/>
                    </a:solidFill>
                  </a:tcPr>
                </a:tc>
              </a:tr>
            </a:tbl>
          </a:graphicData>
        </a:graphic>
      </p:graphicFrame>
      <p:sp>
        <p:nvSpPr>
          <p:cNvPr id="5" name="rtm-callout">
            <a:extLst xmlns:a="http://schemas.openxmlformats.org/drawingml/2006/main">
              <a:ext uri="{FF2B5EF4-FFF2-40B4-BE49-F238E27FC236}">
                <a16:creationId xmlns:a16="http://schemas.microsoft.com/office/drawing/2014/main" id="{8220A23E-7875-49EB-9BAA-AF5E7C5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C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6" name="rtm-callout-text">
            <a:extLst xmlns:a="http://schemas.openxmlformats.org/drawingml/2006/main">
              <a:ext uri="{FF2B5EF4-FFF2-40B4-BE49-F238E27FC236}">
                <a16:creationId xmlns:a16="http://schemas.microsoft.com/office/drawing/2014/main" id="{5C7A90DB-08D6-4DAF-9E39-CB994A7B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388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14B38"/>
                </a:solidFill>
              </a:defRPr>
            </a:pPr>
            <a:r>
              <a:rPr sz="1350" b="1">
                <a:solidFill>
                  <a:srgbClr val="214B38"/>
                </a:solidFill>
              </a:rPr>
              <a:t>Sign-off focus: protect Must scope and attach evidence as each Jira delivery moves to Done.</a:t>
            </a:r>
          </a:p>
        </p:txBody>
      </p:sp>
      <p:sp>
        <p:nvSpPr>
          <p:cNvPr id="7" name="footer-5">
            <a:extLst xmlns:a="http://schemas.openxmlformats.org/drawingml/2006/main">
              <a:ext uri="{FF2B5EF4-FFF2-40B4-BE49-F238E27FC236}">
                <a16:creationId xmlns:a16="http://schemas.microsoft.com/office/drawing/2014/main" id="{A38CB3DF-9AF8-4110-A0CE-A6E8494F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Australian Mammal Distribution Explorer  |  FIT3163 Group 15</a:t>
            </a:r>
          </a:p>
        </p:txBody>
      </p:sp>
      <p:sp>
        <p:nvSpPr>
          <p:cNvPr id="8" name="page-5">
            <a:extLst xmlns:a="http://schemas.openxmlformats.org/drawingml/2006/main">
              <a:ext uri="{FF2B5EF4-FFF2-40B4-BE49-F238E27FC236}">
                <a16:creationId xmlns:a16="http://schemas.microsoft.com/office/drawing/2014/main" id="{C9492FBE-13F3-43E1-A199-DC7B0C8A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67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D6A61"/>
                </a:solidFill>
              </a:defRPr>
            </a:pPr>
            <a:r>
              <a:rPr sz="900">
                <a:solidFill>
                  <a:srgbClr val="5D6A6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612508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2026-08-10T23:05:26.6550000Z</dcterms:created>
  <dcterms:modified xsi:type="dcterms:W3CDTF">2026-08-10T23:05:26.6550000Z</dcterms:modified>
</coreProperties>
</file>